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4630400" cy="8229600"/>
  <p:notesSz cx="8229600" cy="14630400"/>
  <p:embeddedFontLst>
    <p:embeddedFont>
      <p:font typeface="MuseoModerno Medium"/>
      <p:regular r:id="rId18"/>
    </p:embeddedFont>
    <p:embeddedFont>
      <p:font typeface="MuseoModerno Medium"/>
      <p:regular r:id="rId19"/>
    </p:embeddedFont>
    <p:embeddedFont>
      <p:font typeface="MuseoModerno Medium"/>
      <p:regular r:id="rId20"/>
    </p:embeddedFont>
    <p:embeddedFont>
      <p:font typeface="MuseoModerno Medium"/>
      <p:regular r:id="rId21"/>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openxmlformats.org/officeDocument/2006/relationships/font" Target="fonts/font1.fntdata"/><Relationship Id="rId19" Type="http://schemas.openxmlformats.org/officeDocument/2006/relationships/font" Target="fonts/font2.fntdata"/><Relationship Id="rId20" Type="http://schemas.openxmlformats.org/officeDocument/2006/relationships/font" Target="fonts/font3.fntdata"/><Relationship Id="rId21" Type="http://schemas.openxmlformats.org/officeDocument/2006/relationships/font" Target="fonts/font4.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0-1.pn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1-1.png"/><Relationship Id="rId3"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2-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4.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5.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slideLayout" Target="../slideLayouts/slideLayout6.xml"/><Relationship Id="rId1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7.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9.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0.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1656755"/>
            <a:ext cx="7556421" cy="1417558"/>
          </a:xfrm>
          <a:prstGeom prst="rect">
            <a:avLst/>
          </a:prstGeom>
          <a:noFill/>
          <a:ln/>
        </p:spPr>
        <p:txBody>
          <a:bodyPr wrap="square" lIns="0" tIns="0" rIns="0" bIns="0" rtlCol="0" anchor="t"/>
          <a:lstStyle/>
          <a:p>
            <a:pPr algn="l" indent="0" marL="0">
              <a:lnSpc>
                <a:spcPts val="5550"/>
              </a:lnSpc>
              <a:buNone/>
            </a:pPr>
            <a:r>
              <a:rPr lang="en-US" sz="4450" dirty="0">
                <a:solidFill>
                  <a:srgbClr val="124E73"/>
                </a:solidFill>
                <a:latin typeface="MuseoModerno Medium" pitchFamily="34" charset="0"/>
                <a:ea typeface="MuseoModerno Medium" pitchFamily="34" charset="-122"/>
                <a:cs typeface="MuseoModerno Medium" pitchFamily="34" charset="-120"/>
              </a:rPr>
              <a:t>WanderInn: Home Rental &amp; Booking System</a:t>
            </a:r>
            <a:endParaRPr lang="en-US" sz="4450" dirty="0"/>
          </a:p>
        </p:txBody>
      </p:sp>
      <p:sp>
        <p:nvSpPr>
          <p:cNvPr id="4" name="Text 1"/>
          <p:cNvSpPr/>
          <p:nvPr/>
        </p:nvSpPr>
        <p:spPr>
          <a:xfrm>
            <a:off x="6280190" y="3414474"/>
            <a:ext cx="7556421" cy="1451610"/>
          </a:xfrm>
          <a:prstGeom prst="rect">
            <a:avLst/>
          </a:prstGeom>
          <a:noFill/>
          <a:ln/>
        </p:spPr>
        <p:txBody>
          <a:bodyPr wrap="square" lIns="0" tIns="0" rIns="0" bIns="0" rtlCol="0" anchor="t"/>
          <a:lstStyle/>
          <a:p>
            <a:pPr algn="l" indent="0" marL="0">
              <a:lnSpc>
                <a:spcPts val="2850"/>
              </a:lnSpc>
              <a:buNone/>
            </a:pPr>
            <a:r>
              <a:rPr lang="en-US" sz="1750" dirty="0">
                <a:solidFill>
                  <a:srgbClr val="2B4150"/>
                </a:solidFill>
                <a:latin typeface="Source Sans Pro" pitchFamily="34" charset="0"/>
                <a:ea typeface="Source Sans Pro" pitchFamily="34" charset="-122"/>
                <a:cs typeface="Source Sans Pro" pitchFamily="34" charset="-120"/>
              </a:rPr>
              <a:t>WanderInn is a comprehensive accommodation platform designed to connect travelers with property owners for short-term rentals. The system provides a user-friendly interface for finding and booking accommodations while enabling property owners to list and manage their rentals effectively.</a:t>
            </a:r>
            <a:endParaRPr lang="en-US" sz="1750" dirty="0"/>
          </a:p>
        </p:txBody>
      </p:sp>
      <p:sp>
        <p:nvSpPr>
          <p:cNvPr id="5" name="Text 2"/>
          <p:cNvSpPr/>
          <p:nvPr/>
        </p:nvSpPr>
        <p:spPr>
          <a:xfrm>
            <a:off x="6280190" y="5121235"/>
            <a:ext cx="7556421" cy="1451610"/>
          </a:xfrm>
          <a:prstGeom prst="rect">
            <a:avLst/>
          </a:prstGeom>
          <a:noFill/>
          <a:ln/>
        </p:spPr>
        <p:txBody>
          <a:bodyPr wrap="square" lIns="0" tIns="0" rIns="0" bIns="0" rtlCol="0" anchor="t"/>
          <a:lstStyle/>
          <a:p>
            <a:pPr algn="l" indent="0" marL="0">
              <a:lnSpc>
                <a:spcPts val="2850"/>
              </a:lnSpc>
              <a:buNone/>
            </a:pPr>
            <a:r>
              <a:rPr lang="en-US" sz="1750" dirty="0">
                <a:solidFill>
                  <a:srgbClr val="2B4150"/>
                </a:solidFill>
                <a:latin typeface="Source Sans Pro" pitchFamily="34" charset="0"/>
                <a:ea typeface="Source Sans Pro" pitchFamily="34" charset="-122"/>
                <a:cs typeface="Source Sans Pro" pitchFamily="34" charset="-120"/>
              </a:rPr>
              <a:t>Developed by a talented team of three developers - Muhammad Rafay (22i-0948), Arham Khalid (22i-1156), and Maaz Khan - this platform addresses common pain points in the rental market such as high service fees, lack of transparency, and limited availability of well-reviewed listings.</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867972"/>
            <a:ext cx="5670590" cy="708779"/>
          </a:xfrm>
          <a:prstGeom prst="rect">
            <a:avLst/>
          </a:prstGeom>
          <a:noFill/>
          <a:ln/>
        </p:spPr>
        <p:txBody>
          <a:bodyPr wrap="none" lIns="0" tIns="0" rIns="0" bIns="0" rtlCol="0" anchor="t"/>
          <a:lstStyle/>
          <a:p>
            <a:pPr algn="l" indent="0" marL="0">
              <a:lnSpc>
                <a:spcPts val="5550"/>
              </a:lnSpc>
              <a:buNone/>
            </a:pPr>
            <a:r>
              <a:rPr lang="en-US" sz="4450" dirty="0">
                <a:solidFill>
                  <a:srgbClr val="124E73"/>
                </a:solidFill>
                <a:latin typeface="MuseoModerno Medium" pitchFamily="34" charset="0"/>
                <a:ea typeface="MuseoModerno Medium" pitchFamily="34" charset="-122"/>
                <a:cs typeface="MuseoModerno Medium" pitchFamily="34" charset="-120"/>
              </a:rPr>
              <a:t>System Architecture</a:t>
            </a:r>
            <a:endParaRPr lang="en-US" sz="4450" dirty="0"/>
          </a:p>
        </p:txBody>
      </p:sp>
      <p:sp>
        <p:nvSpPr>
          <p:cNvPr id="3" name="Text 1"/>
          <p:cNvSpPr/>
          <p:nvPr/>
        </p:nvSpPr>
        <p:spPr>
          <a:xfrm>
            <a:off x="793790" y="3143726"/>
            <a:ext cx="3372445" cy="354330"/>
          </a:xfrm>
          <a:prstGeom prst="rect">
            <a:avLst/>
          </a:prstGeom>
          <a:noFill/>
          <a:ln/>
        </p:spPr>
        <p:txBody>
          <a:bodyPr wrap="none" lIns="0" tIns="0" rIns="0" bIns="0" rtlCol="0" anchor="t"/>
          <a:lstStyle/>
          <a:p>
            <a:pPr algn="l" indent="0" marL="0">
              <a:lnSpc>
                <a:spcPts val="2750"/>
              </a:lnSpc>
              <a:buNone/>
            </a:pPr>
            <a:r>
              <a:rPr lang="en-US" sz="2200" dirty="0">
                <a:solidFill>
                  <a:srgbClr val="124E73"/>
                </a:solidFill>
                <a:latin typeface="MuseoModerno Medium" pitchFamily="34" charset="0"/>
                <a:ea typeface="MuseoModerno Medium" pitchFamily="34" charset="-122"/>
                <a:cs typeface="MuseoModerno Medium" pitchFamily="34" charset="-120"/>
              </a:rPr>
              <a:t>Client-Server Architecture</a:t>
            </a:r>
            <a:endParaRPr lang="en-US" sz="2200" dirty="0"/>
          </a:p>
        </p:txBody>
      </p:sp>
      <p:sp>
        <p:nvSpPr>
          <p:cNvPr id="4" name="Text 2"/>
          <p:cNvSpPr/>
          <p:nvPr/>
        </p:nvSpPr>
        <p:spPr>
          <a:xfrm>
            <a:off x="793790" y="3724870"/>
            <a:ext cx="3978116" cy="1451610"/>
          </a:xfrm>
          <a:prstGeom prst="rect">
            <a:avLst/>
          </a:prstGeom>
          <a:noFill/>
          <a:ln/>
        </p:spPr>
        <p:txBody>
          <a:bodyPr wrap="square" lIns="0" tIns="0" rIns="0" bIns="0" rtlCol="0" anchor="t"/>
          <a:lstStyle/>
          <a:p>
            <a:pPr algn="l" indent="0" marL="0">
              <a:lnSpc>
                <a:spcPts val="2850"/>
              </a:lnSpc>
              <a:buNone/>
            </a:pPr>
            <a:r>
              <a:rPr lang="en-US" sz="1750" dirty="0">
                <a:solidFill>
                  <a:srgbClr val="2B4150"/>
                </a:solidFill>
                <a:latin typeface="Source Sans Pro" pitchFamily="34" charset="0"/>
                <a:ea typeface="Source Sans Pro" pitchFamily="34" charset="-122"/>
                <a:cs typeface="Source Sans Pro" pitchFamily="34" charset="-120"/>
              </a:rPr>
              <a:t>WanderInn employs a separation between frontend (Next.js) and backend (Node.js/Express) for optimal performance and scalability.</a:t>
            </a:r>
            <a:endParaRPr lang="en-US" sz="1750" dirty="0"/>
          </a:p>
        </p:txBody>
      </p:sp>
      <p:sp>
        <p:nvSpPr>
          <p:cNvPr id="5" name="Text 3"/>
          <p:cNvSpPr/>
          <p:nvPr/>
        </p:nvSpPr>
        <p:spPr>
          <a:xfrm>
            <a:off x="5332928" y="3143726"/>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124E73"/>
                </a:solidFill>
                <a:latin typeface="MuseoModerno Medium" pitchFamily="34" charset="0"/>
                <a:ea typeface="MuseoModerno Medium" pitchFamily="34" charset="-122"/>
                <a:cs typeface="MuseoModerno Medium" pitchFamily="34" charset="-120"/>
              </a:rPr>
              <a:t>MVC Architecture</a:t>
            </a:r>
            <a:endParaRPr lang="en-US" sz="2200" dirty="0"/>
          </a:p>
        </p:txBody>
      </p:sp>
      <p:sp>
        <p:nvSpPr>
          <p:cNvPr id="6" name="Text 4"/>
          <p:cNvSpPr/>
          <p:nvPr/>
        </p:nvSpPr>
        <p:spPr>
          <a:xfrm>
            <a:off x="5332928" y="3724870"/>
            <a:ext cx="3978116" cy="1088708"/>
          </a:xfrm>
          <a:prstGeom prst="rect">
            <a:avLst/>
          </a:prstGeom>
          <a:noFill/>
          <a:ln/>
        </p:spPr>
        <p:txBody>
          <a:bodyPr wrap="square" lIns="0" tIns="0" rIns="0" bIns="0" rtlCol="0" anchor="t"/>
          <a:lstStyle/>
          <a:p>
            <a:pPr algn="l" indent="0" marL="0">
              <a:lnSpc>
                <a:spcPts val="2850"/>
              </a:lnSpc>
              <a:buNone/>
            </a:pPr>
            <a:r>
              <a:rPr lang="en-US" sz="1750" dirty="0">
                <a:solidFill>
                  <a:srgbClr val="2B4150"/>
                </a:solidFill>
                <a:latin typeface="Source Sans Pro" pitchFamily="34" charset="0"/>
                <a:ea typeface="Source Sans Pro" pitchFamily="34" charset="-122"/>
                <a:cs typeface="Source Sans Pro" pitchFamily="34" charset="-120"/>
              </a:rPr>
              <a:t>The backend is organized using the Model-View-Controller pattern for clean code organization and maintenance.</a:t>
            </a:r>
            <a:endParaRPr lang="en-US" sz="1750" dirty="0"/>
          </a:p>
        </p:txBody>
      </p:sp>
      <p:sp>
        <p:nvSpPr>
          <p:cNvPr id="7" name="Text 5"/>
          <p:cNvSpPr/>
          <p:nvPr/>
        </p:nvSpPr>
        <p:spPr>
          <a:xfrm>
            <a:off x="9872067" y="3143726"/>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124E73"/>
                </a:solidFill>
                <a:latin typeface="MuseoModerno Medium" pitchFamily="34" charset="0"/>
                <a:ea typeface="MuseoModerno Medium" pitchFamily="34" charset="-122"/>
                <a:cs typeface="MuseoModerno Medium" pitchFamily="34" charset="-120"/>
              </a:rPr>
              <a:t>Subsystems</a:t>
            </a:r>
            <a:endParaRPr lang="en-US" sz="2200" dirty="0"/>
          </a:p>
        </p:txBody>
      </p:sp>
      <p:sp>
        <p:nvSpPr>
          <p:cNvPr id="8" name="Text 6"/>
          <p:cNvSpPr/>
          <p:nvPr/>
        </p:nvSpPr>
        <p:spPr>
          <a:xfrm>
            <a:off x="9872067" y="3724870"/>
            <a:ext cx="3978116" cy="1451610"/>
          </a:xfrm>
          <a:prstGeom prst="rect">
            <a:avLst/>
          </a:prstGeom>
          <a:noFill/>
          <a:ln/>
        </p:spPr>
        <p:txBody>
          <a:bodyPr wrap="square" lIns="0" tIns="0" rIns="0" bIns="0" rtlCol="0" anchor="t"/>
          <a:lstStyle/>
          <a:p>
            <a:pPr algn="l" indent="0" marL="0">
              <a:lnSpc>
                <a:spcPts val="2850"/>
              </a:lnSpc>
              <a:buNone/>
            </a:pPr>
            <a:r>
              <a:rPr lang="en-US" sz="1750" dirty="0">
                <a:solidFill>
                  <a:srgbClr val="2B4150"/>
                </a:solidFill>
                <a:latin typeface="Source Sans Pro" pitchFamily="34" charset="0"/>
                <a:ea typeface="Source Sans Pro" pitchFamily="34" charset="-122"/>
                <a:cs typeface="Source Sans Pro" pitchFamily="34" charset="-120"/>
              </a:rPr>
              <a:t>The platform is divided into Frontend (Next.js UI), Backend (Node.js/Express API), Database (MongoDB Atlas), and Integration subsystems.</a:t>
            </a:r>
            <a:endParaRPr lang="en-US" sz="1750" dirty="0"/>
          </a:p>
        </p:txBody>
      </p:sp>
      <p:sp>
        <p:nvSpPr>
          <p:cNvPr id="9" name="Text 7"/>
          <p:cNvSpPr/>
          <p:nvPr/>
        </p:nvSpPr>
        <p:spPr>
          <a:xfrm>
            <a:off x="793790" y="5635704"/>
            <a:ext cx="13042821" cy="725805"/>
          </a:xfrm>
          <a:prstGeom prst="rect">
            <a:avLst/>
          </a:prstGeom>
          <a:noFill/>
          <a:ln/>
        </p:spPr>
        <p:txBody>
          <a:bodyPr wrap="square" lIns="0" tIns="0" rIns="0" bIns="0" rtlCol="0" anchor="t"/>
          <a:lstStyle/>
          <a:p>
            <a:pPr algn="l" indent="0" marL="0">
              <a:lnSpc>
                <a:spcPts val="2850"/>
              </a:lnSpc>
              <a:buNone/>
            </a:pPr>
            <a:r>
              <a:rPr lang="en-US" sz="1750" dirty="0">
                <a:solidFill>
                  <a:srgbClr val="2B4150"/>
                </a:solidFill>
                <a:latin typeface="Source Sans Pro" pitchFamily="34" charset="0"/>
                <a:ea typeface="Source Sans Pro" pitchFamily="34" charset="-122"/>
                <a:cs typeface="Source Sans Pro" pitchFamily="34" charset="-120"/>
              </a:rPr>
              <a:t>The deployment architecture spans client devices (web browsers and mobile devices), web servers, API servers, and database servers, creating a robust and responsive system for users across different platforms.</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34020" y="786408"/>
            <a:ext cx="5473065" cy="655439"/>
          </a:xfrm>
          <a:prstGeom prst="rect">
            <a:avLst/>
          </a:prstGeom>
          <a:noFill/>
          <a:ln/>
        </p:spPr>
        <p:txBody>
          <a:bodyPr wrap="none" lIns="0" tIns="0" rIns="0" bIns="0" rtlCol="0" anchor="t"/>
          <a:lstStyle/>
          <a:p>
            <a:pPr algn="l" indent="0" marL="0">
              <a:lnSpc>
                <a:spcPts val="5150"/>
              </a:lnSpc>
              <a:buNone/>
            </a:pPr>
            <a:r>
              <a:rPr lang="en-US" sz="4100" dirty="0">
                <a:solidFill>
                  <a:srgbClr val="124E73"/>
                </a:solidFill>
                <a:latin typeface="MuseoModerno Medium" pitchFamily="34" charset="0"/>
                <a:ea typeface="MuseoModerno Medium" pitchFamily="34" charset="-122"/>
                <a:cs typeface="MuseoModerno Medium" pitchFamily="34" charset="-120"/>
              </a:rPr>
              <a:t>Deployment Diagram</a:t>
            </a:r>
            <a:endParaRPr lang="en-US" sz="4100" dirty="0"/>
          </a:p>
        </p:txBody>
      </p:sp>
      <p:pic>
        <p:nvPicPr>
          <p:cNvPr id="3" name="Image 0" descr="preencoded.png">    </p:cNvPr>
          <p:cNvPicPr>
            <a:picLocks noChangeAspect="1"/>
          </p:cNvPicPr>
          <p:nvPr/>
        </p:nvPicPr>
        <p:blipFill>
          <a:blip r:embed="rId1"/>
          <a:stretch>
            <a:fillRect/>
          </a:stretch>
        </p:blipFill>
        <p:spPr>
          <a:xfrm>
            <a:off x="734020" y="1677710"/>
            <a:ext cx="3507224" cy="4548664"/>
          </a:xfrm>
          <a:prstGeom prst="rect">
            <a:avLst/>
          </a:prstGeom>
        </p:spPr>
      </p:pic>
      <p:sp>
        <p:nvSpPr>
          <p:cNvPr id="4" name="Text 1"/>
          <p:cNvSpPr/>
          <p:nvPr/>
        </p:nvSpPr>
        <p:spPr>
          <a:xfrm>
            <a:off x="7578685" y="786408"/>
            <a:ext cx="5275898" cy="655439"/>
          </a:xfrm>
          <a:prstGeom prst="rect">
            <a:avLst/>
          </a:prstGeom>
          <a:noFill/>
          <a:ln/>
        </p:spPr>
        <p:txBody>
          <a:bodyPr wrap="none" lIns="0" tIns="0" rIns="0" bIns="0" rtlCol="0" anchor="t"/>
          <a:lstStyle/>
          <a:p>
            <a:pPr algn="l" indent="0" marL="0">
              <a:lnSpc>
                <a:spcPts val="5150"/>
              </a:lnSpc>
              <a:buNone/>
            </a:pPr>
            <a:r>
              <a:rPr lang="en-US" sz="4100" dirty="0">
                <a:solidFill>
                  <a:srgbClr val="124E73"/>
                </a:solidFill>
                <a:latin typeface="MuseoModerno Medium" pitchFamily="34" charset="0"/>
                <a:ea typeface="MuseoModerno Medium" pitchFamily="34" charset="-122"/>
                <a:cs typeface="MuseoModerno Medium" pitchFamily="34" charset="-120"/>
              </a:rPr>
              <a:t>Component Diagram</a:t>
            </a:r>
            <a:endParaRPr lang="en-US" sz="4100" dirty="0"/>
          </a:p>
        </p:txBody>
      </p:sp>
      <p:pic>
        <p:nvPicPr>
          <p:cNvPr id="5" name="Image 1" descr="preencoded.png">    </p:cNvPr>
          <p:cNvPicPr>
            <a:picLocks noChangeAspect="1"/>
          </p:cNvPicPr>
          <p:nvPr/>
        </p:nvPicPr>
        <p:blipFill>
          <a:blip r:embed="rId2"/>
          <a:stretch>
            <a:fillRect/>
          </a:stretch>
        </p:blipFill>
        <p:spPr>
          <a:xfrm>
            <a:off x="7578685" y="1677710"/>
            <a:ext cx="4894659" cy="574143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97324" y="390763"/>
            <a:ext cx="6170652" cy="444103"/>
          </a:xfrm>
          <a:prstGeom prst="rect">
            <a:avLst/>
          </a:prstGeom>
          <a:noFill/>
          <a:ln/>
        </p:spPr>
        <p:txBody>
          <a:bodyPr wrap="none" lIns="0" tIns="0" rIns="0" bIns="0" rtlCol="0" anchor="t"/>
          <a:lstStyle/>
          <a:p>
            <a:pPr algn="l" indent="0" marL="0">
              <a:lnSpc>
                <a:spcPts val="3450"/>
              </a:lnSpc>
              <a:buNone/>
            </a:pPr>
            <a:r>
              <a:rPr lang="en-US" sz="2750" dirty="0">
                <a:solidFill>
                  <a:srgbClr val="124E73"/>
                </a:solidFill>
                <a:latin typeface="MuseoModerno Medium" pitchFamily="34" charset="0"/>
                <a:ea typeface="MuseoModerno Medium" pitchFamily="34" charset="-122"/>
                <a:cs typeface="MuseoModerno Medium" pitchFamily="34" charset="-120"/>
              </a:rPr>
              <a:t>Package Diagram       Class Diagram</a:t>
            </a:r>
            <a:endParaRPr lang="en-US" sz="2750" dirty="0"/>
          </a:p>
        </p:txBody>
      </p:sp>
      <p:pic>
        <p:nvPicPr>
          <p:cNvPr id="3" name="Image 0" descr="preencoded.png">    </p:cNvPr>
          <p:cNvPicPr>
            <a:picLocks noChangeAspect="1"/>
          </p:cNvPicPr>
          <p:nvPr/>
        </p:nvPicPr>
        <p:blipFill>
          <a:blip r:embed="rId1"/>
          <a:stretch>
            <a:fillRect/>
          </a:stretch>
        </p:blipFill>
        <p:spPr>
          <a:xfrm>
            <a:off x="497324" y="1207770"/>
            <a:ext cx="6644521" cy="8832533"/>
          </a:xfrm>
          <a:prstGeom prst="rect">
            <a:avLst/>
          </a:prstGeom>
        </p:spPr>
      </p:pic>
      <p:pic>
        <p:nvPicPr>
          <p:cNvPr id="4" name="Image 1" descr="preencoded.png">    </p:cNvPr>
          <p:cNvPicPr>
            <a:picLocks noChangeAspect="1"/>
          </p:cNvPicPr>
          <p:nvPr/>
        </p:nvPicPr>
        <p:blipFill>
          <a:blip r:embed="rId2"/>
          <a:stretch>
            <a:fillRect/>
          </a:stretch>
        </p:blipFill>
        <p:spPr>
          <a:xfrm>
            <a:off x="7496175" y="1207770"/>
            <a:ext cx="4232672" cy="3889891"/>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1251109"/>
            <a:ext cx="5727025" cy="708779"/>
          </a:xfrm>
          <a:prstGeom prst="rect">
            <a:avLst/>
          </a:prstGeom>
          <a:noFill/>
          <a:ln/>
        </p:spPr>
        <p:txBody>
          <a:bodyPr wrap="none" lIns="0" tIns="0" rIns="0" bIns="0" rtlCol="0" anchor="t"/>
          <a:lstStyle/>
          <a:p>
            <a:pPr algn="l" indent="0" marL="0">
              <a:lnSpc>
                <a:spcPts val="5550"/>
              </a:lnSpc>
              <a:buNone/>
            </a:pPr>
            <a:r>
              <a:rPr lang="en-US" sz="4450" dirty="0">
                <a:solidFill>
                  <a:srgbClr val="124E73"/>
                </a:solidFill>
                <a:latin typeface="MuseoModerno Medium" pitchFamily="34" charset="0"/>
                <a:ea typeface="MuseoModerno Medium" pitchFamily="34" charset="-122"/>
                <a:cs typeface="MuseoModerno Medium" pitchFamily="34" charset="-120"/>
              </a:rPr>
              <a:t>System Components</a:t>
            </a:r>
            <a:endParaRPr lang="en-US" sz="4450" dirty="0"/>
          </a:p>
        </p:txBody>
      </p:sp>
      <p:sp>
        <p:nvSpPr>
          <p:cNvPr id="3" name="Text 1"/>
          <p:cNvSpPr/>
          <p:nvPr/>
        </p:nvSpPr>
        <p:spPr>
          <a:xfrm>
            <a:off x="2197418" y="2861548"/>
            <a:ext cx="2835235" cy="354330"/>
          </a:xfrm>
          <a:prstGeom prst="rect">
            <a:avLst/>
          </a:prstGeom>
          <a:noFill/>
          <a:ln/>
        </p:spPr>
        <p:txBody>
          <a:bodyPr wrap="none" lIns="0" tIns="0" rIns="0" bIns="0" rtlCol="0" anchor="t"/>
          <a:lstStyle/>
          <a:p>
            <a:pPr algn="r" indent="0" marL="0">
              <a:lnSpc>
                <a:spcPts val="2750"/>
              </a:lnSpc>
              <a:buNone/>
            </a:pPr>
            <a:r>
              <a:rPr lang="en-US" sz="2200" dirty="0">
                <a:solidFill>
                  <a:srgbClr val="2B4150"/>
                </a:solidFill>
                <a:latin typeface="MuseoModerno Medium" pitchFamily="34" charset="0"/>
                <a:ea typeface="MuseoModerno Medium" pitchFamily="34" charset="-122"/>
                <a:cs typeface="MuseoModerno Medium" pitchFamily="34" charset="-120"/>
              </a:rPr>
              <a:t>User Management</a:t>
            </a:r>
            <a:endParaRPr lang="en-US" sz="2200" dirty="0"/>
          </a:p>
        </p:txBody>
      </p:sp>
      <p:sp>
        <p:nvSpPr>
          <p:cNvPr id="4" name="Text 2"/>
          <p:cNvSpPr/>
          <p:nvPr/>
        </p:nvSpPr>
        <p:spPr>
          <a:xfrm>
            <a:off x="793790" y="3351967"/>
            <a:ext cx="4238863" cy="725805"/>
          </a:xfrm>
          <a:prstGeom prst="rect">
            <a:avLst/>
          </a:prstGeom>
          <a:noFill/>
          <a:ln/>
        </p:spPr>
        <p:txBody>
          <a:bodyPr wrap="square" lIns="0" tIns="0" rIns="0" bIns="0" rtlCol="0" anchor="t"/>
          <a:lstStyle/>
          <a:p>
            <a:pPr algn="r" indent="0" marL="0">
              <a:lnSpc>
                <a:spcPts val="2850"/>
              </a:lnSpc>
              <a:buNone/>
            </a:pPr>
            <a:r>
              <a:rPr lang="en-US" sz="1750" dirty="0">
                <a:solidFill>
                  <a:srgbClr val="2B4150"/>
                </a:solidFill>
                <a:latin typeface="Source Sans Pro" pitchFamily="34" charset="0"/>
                <a:ea typeface="Source Sans Pro" pitchFamily="34" charset="-122"/>
                <a:cs typeface="Source Sans Pro" pitchFamily="34" charset="-120"/>
              </a:rPr>
              <a:t>Handles authentication, profiles, and user preferences for both hosts and guests.</a:t>
            </a:r>
            <a:endParaRPr lang="en-US" sz="1750" dirty="0"/>
          </a:p>
        </p:txBody>
      </p:sp>
      <p:pic>
        <p:nvPicPr>
          <p:cNvPr id="5" name="Image 0" descr="preencoded.png">    </p:cNvPr>
          <p:cNvPicPr>
            <a:picLocks noChangeAspect="1"/>
          </p:cNvPicPr>
          <p:nvPr/>
        </p:nvPicPr>
        <p:blipFill>
          <a:blip r:embed="rId1"/>
          <a:stretch>
            <a:fillRect/>
          </a:stretch>
        </p:blipFill>
        <p:spPr>
          <a:xfrm>
            <a:off x="5032653" y="2413516"/>
            <a:ext cx="4564975" cy="4564975"/>
          </a:xfrm>
          <a:prstGeom prst="rect">
            <a:avLst/>
          </a:prstGeom>
        </p:spPr>
      </p:pic>
      <p:pic>
        <p:nvPicPr>
          <p:cNvPr id="6" name="Image 1" descr="preencoded.png">    </p:cNvPr>
          <p:cNvPicPr>
            <a:picLocks noChangeAspect="1"/>
          </p:cNvPicPr>
          <p:nvPr/>
        </p:nvPicPr>
        <p:blipFill>
          <a:blip r:embed="rId2"/>
          <a:stretch>
            <a:fillRect/>
          </a:stretch>
        </p:blipFill>
        <p:spPr>
          <a:xfrm>
            <a:off x="6204585" y="3805714"/>
            <a:ext cx="318968" cy="398621"/>
          </a:xfrm>
          <a:prstGeom prst="rect">
            <a:avLst/>
          </a:prstGeom>
        </p:spPr>
      </p:pic>
      <p:sp>
        <p:nvSpPr>
          <p:cNvPr id="7" name="Text 3"/>
          <p:cNvSpPr/>
          <p:nvPr/>
        </p:nvSpPr>
        <p:spPr>
          <a:xfrm>
            <a:off x="9597628" y="2452807"/>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2B4150"/>
                </a:solidFill>
                <a:latin typeface="MuseoModerno Medium" pitchFamily="34" charset="0"/>
                <a:ea typeface="MuseoModerno Medium" pitchFamily="34" charset="-122"/>
                <a:cs typeface="MuseoModerno Medium" pitchFamily="34" charset="-120"/>
              </a:rPr>
              <a:t>Property Listings</a:t>
            </a:r>
            <a:endParaRPr lang="en-US" sz="2200" dirty="0"/>
          </a:p>
        </p:txBody>
      </p:sp>
      <p:sp>
        <p:nvSpPr>
          <p:cNvPr id="8" name="Text 4"/>
          <p:cNvSpPr/>
          <p:nvPr/>
        </p:nvSpPr>
        <p:spPr>
          <a:xfrm>
            <a:off x="9597628" y="2943225"/>
            <a:ext cx="4238982" cy="725805"/>
          </a:xfrm>
          <a:prstGeom prst="rect">
            <a:avLst/>
          </a:prstGeom>
          <a:noFill/>
          <a:ln/>
        </p:spPr>
        <p:txBody>
          <a:bodyPr wrap="square" lIns="0" tIns="0" rIns="0" bIns="0" rtlCol="0" anchor="t"/>
          <a:lstStyle/>
          <a:p>
            <a:pPr algn="l" indent="0" marL="0">
              <a:lnSpc>
                <a:spcPts val="2850"/>
              </a:lnSpc>
              <a:buNone/>
            </a:pPr>
            <a:r>
              <a:rPr lang="en-US" sz="1750" dirty="0">
                <a:solidFill>
                  <a:srgbClr val="2B4150"/>
                </a:solidFill>
                <a:latin typeface="Source Sans Pro" pitchFamily="34" charset="0"/>
                <a:ea typeface="Source Sans Pro" pitchFamily="34" charset="-122"/>
                <a:cs typeface="Source Sans Pro" pitchFamily="34" charset="-120"/>
              </a:rPr>
              <a:t>Manages creation and display of rental properties with details and images.</a:t>
            </a:r>
            <a:endParaRPr lang="en-US" sz="1750" dirty="0"/>
          </a:p>
        </p:txBody>
      </p:sp>
      <p:pic>
        <p:nvPicPr>
          <p:cNvPr id="9" name="Image 2" descr="preencoded.png">    </p:cNvPr>
          <p:cNvPicPr>
            <a:picLocks noChangeAspect="1"/>
          </p:cNvPicPr>
          <p:nvPr/>
        </p:nvPicPr>
        <p:blipFill>
          <a:blip r:embed="rId3"/>
          <a:stretch>
            <a:fillRect/>
          </a:stretch>
        </p:blipFill>
        <p:spPr>
          <a:xfrm>
            <a:off x="5032653" y="2413516"/>
            <a:ext cx="4564975" cy="4564975"/>
          </a:xfrm>
          <a:prstGeom prst="rect">
            <a:avLst/>
          </a:prstGeom>
        </p:spPr>
      </p:pic>
      <p:pic>
        <p:nvPicPr>
          <p:cNvPr id="10" name="Image 3" descr="preencoded.png">    </p:cNvPr>
          <p:cNvPicPr>
            <a:picLocks noChangeAspect="1"/>
          </p:cNvPicPr>
          <p:nvPr/>
        </p:nvPicPr>
        <p:blipFill>
          <a:blip r:embed="rId4"/>
          <a:stretch>
            <a:fillRect/>
          </a:stretch>
        </p:blipFill>
        <p:spPr>
          <a:xfrm>
            <a:off x="7518797" y="3378637"/>
            <a:ext cx="318968" cy="398621"/>
          </a:xfrm>
          <a:prstGeom prst="rect">
            <a:avLst/>
          </a:prstGeom>
        </p:spPr>
      </p:pic>
      <p:sp>
        <p:nvSpPr>
          <p:cNvPr id="11" name="Text 5"/>
          <p:cNvSpPr/>
          <p:nvPr/>
        </p:nvSpPr>
        <p:spPr>
          <a:xfrm>
            <a:off x="10051256" y="4087773"/>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2B4150"/>
                </a:solidFill>
                <a:latin typeface="MuseoModerno Medium" pitchFamily="34" charset="0"/>
                <a:ea typeface="MuseoModerno Medium" pitchFamily="34" charset="-122"/>
                <a:cs typeface="MuseoModerno Medium" pitchFamily="34" charset="-120"/>
              </a:rPr>
              <a:t>Booking System</a:t>
            </a:r>
            <a:endParaRPr lang="en-US" sz="2200" dirty="0"/>
          </a:p>
        </p:txBody>
      </p:sp>
      <p:sp>
        <p:nvSpPr>
          <p:cNvPr id="12" name="Text 6"/>
          <p:cNvSpPr/>
          <p:nvPr/>
        </p:nvSpPr>
        <p:spPr>
          <a:xfrm>
            <a:off x="10051256" y="4578191"/>
            <a:ext cx="3785354" cy="725805"/>
          </a:xfrm>
          <a:prstGeom prst="rect">
            <a:avLst/>
          </a:prstGeom>
          <a:noFill/>
          <a:ln/>
        </p:spPr>
        <p:txBody>
          <a:bodyPr wrap="square" lIns="0" tIns="0" rIns="0" bIns="0" rtlCol="0" anchor="t"/>
          <a:lstStyle/>
          <a:p>
            <a:pPr algn="l" indent="0" marL="0">
              <a:lnSpc>
                <a:spcPts val="2850"/>
              </a:lnSpc>
              <a:buNone/>
            </a:pPr>
            <a:r>
              <a:rPr lang="en-US" sz="1750" dirty="0">
                <a:solidFill>
                  <a:srgbClr val="2B4150"/>
                </a:solidFill>
                <a:latin typeface="Source Sans Pro" pitchFamily="34" charset="0"/>
                <a:ea typeface="Source Sans Pro" pitchFamily="34" charset="-122"/>
                <a:cs typeface="Source Sans Pro" pitchFamily="34" charset="-120"/>
              </a:rPr>
              <a:t>Processes reservations, payments, and booking confirmations.</a:t>
            </a:r>
            <a:endParaRPr lang="en-US" sz="1750" dirty="0"/>
          </a:p>
        </p:txBody>
      </p:sp>
      <p:pic>
        <p:nvPicPr>
          <p:cNvPr id="13" name="Image 4" descr="preencoded.png">    </p:cNvPr>
          <p:cNvPicPr>
            <a:picLocks noChangeAspect="1"/>
          </p:cNvPicPr>
          <p:nvPr/>
        </p:nvPicPr>
        <p:blipFill>
          <a:blip r:embed="rId5"/>
          <a:stretch>
            <a:fillRect/>
          </a:stretch>
        </p:blipFill>
        <p:spPr>
          <a:xfrm>
            <a:off x="5032653" y="2413516"/>
            <a:ext cx="4564975" cy="4564975"/>
          </a:xfrm>
          <a:prstGeom prst="rect">
            <a:avLst/>
          </a:prstGeom>
        </p:spPr>
      </p:pic>
      <p:pic>
        <p:nvPicPr>
          <p:cNvPr id="14" name="Image 5" descr="preencoded.png">    </p:cNvPr>
          <p:cNvPicPr>
            <a:picLocks noChangeAspect="1"/>
          </p:cNvPicPr>
          <p:nvPr/>
        </p:nvPicPr>
        <p:blipFill>
          <a:blip r:embed="rId6"/>
          <a:stretch>
            <a:fillRect/>
          </a:stretch>
        </p:blipFill>
        <p:spPr>
          <a:xfrm>
            <a:off x="8331041" y="4496633"/>
            <a:ext cx="318968" cy="398621"/>
          </a:xfrm>
          <a:prstGeom prst="rect">
            <a:avLst/>
          </a:prstGeom>
        </p:spPr>
      </p:pic>
      <p:sp>
        <p:nvSpPr>
          <p:cNvPr id="15" name="Text 7"/>
          <p:cNvSpPr/>
          <p:nvPr/>
        </p:nvSpPr>
        <p:spPr>
          <a:xfrm>
            <a:off x="9597628" y="5722858"/>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2B4150"/>
                </a:solidFill>
                <a:latin typeface="MuseoModerno Medium" pitchFamily="34" charset="0"/>
                <a:ea typeface="MuseoModerno Medium" pitchFamily="34" charset="-122"/>
                <a:cs typeface="MuseoModerno Medium" pitchFamily="34" charset="-120"/>
              </a:rPr>
              <a:t>Reviews System</a:t>
            </a:r>
            <a:endParaRPr lang="en-US" sz="2200" dirty="0"/>
          </a:p>
        </p:txBody>
      </p:sp>
      <p:sp>
        <p:nvSpPr>
          <p:cNvPr id="16" name="Text 8"/>
          <p:cNvSpPr/>
          <p:nvPr/>
        </p:nvSpPr>
        <p:spPr>
          <a:xfrm>
            <a:off x="9597628" y="6213277"/>
            <a:ext cx="4238982" cy="725805"/>
          </a:xfrm>
          <a:prstGeom prst="rect">
            <a:avLst/>
          </a:prstGeom>
          <a:noFill/>
          <a:ln/>
        </p:spPr>
        <p:txBody>
          <a:bodyPr wrap="square" lIns="0" tIns="0" rIns="0" bIns="0" rtlCol="0" anchor="t"/>
          <a:lstStyle/>
          <a:p>
            <a:pPr algn="l" indent="0" marL="0">
              <a:lnSpc>
                <a:spcPts val="2850"/>
              </a:lnSpc>
              <a:buNone/>
            </a:pPr>
            <a:r>
              <a:rPr lang="en-US" sz="1750" dirty="0">
                <a:solidFill>
                  <a:srgbClr val="2B4150"/>
                </a:solidFill>
                <a:latin typeface="Source Sans Pro" pitchFamily="34" charset="0"/>
                <a:ea typeface="Source Sans Pro" pitchFamily="34" charset="-122"/>
                <a:cs typeface="Source Sans Pro" pitchFamily="34" charset="-120"/>
              </a:rPr>
              <a:t>Enables users to rate and review properties and hosts.</a:t>
            </a:r>
            <a:endParaRPr lang="en-US" sz="1750" dirty="0"/>
          </a:p>
        </p:txBody>
      </p:sp>
      <p:pic>
        <p:nvPicPr>
          <p:cNvPr id="17" name="Image 6" descr="preencoded.png">    </p:cNvPr>
          <p:cNvPicPr>
            <a:picLocks noChangeAspect="1"/>
          </p:cNvPicPr>
          <p:nvPr/>
        </p:nvPicPr>
        <p:blipFill>
          <a:blip r:embed="rId7"/>
          <a:stretch>
            <a:fillRect/>
          </a:stretch>
        </p:blipFill>
        <p:spPr>
          <a:xfrm>
            <a:off x="5032653" y="2413516"/>
            <a:ext cx="4564975" cy="4564975"/>
          </a:xfrm>
          <a:prstGeom prst="rect">
            <a:avLst/>
          </a:prstGeom>
        </p:spPr>
      </p:pic>
      <p:pic>
        <p:nvPicPr>
          <p:cNvPr id="18" name="Image 7" descr="preencoded.png">    </p:cNvPr>
          <p:cNvPicPr>
            <a:picLocks noChangeAspect="1"/>
          </p:cNvPicPr>
          <p:nvPr/>
        </p:nvPicPr>
        <p:blipFill>
          <a:blip r:embed="rId8"/>
          <a:stretch>
            <a:fillRect/>
          </a:stretch>
        </p:blipFill>
        <p:spPr>
          <a:xfrm>
            <a:off x="7518797" y="5614630"/>
            <a:ext cx="318968" cy="398621"/>
          </a:xfrm>
          <a:prstGeom prst="rect">
            <a:avLst/>
          </a:prstGeom>
        </p:spPr>
      </p:pic>
      <p:sp>
        <p:nvSpPr>
          <p:cNvPr id="19" name="Text 9"/>
          <p:cNvSpPr/>
          <p:nvPr/>
        </p:nvSpPr>
        <p:spPr>
          <a:xfrm>
            <a:off x="1814632" y="5314117"/>
            <a:ext cx="3218021" cy="354330"/>
          </a:xfrm>
          <a:prstGeom prst="rect">
            <a:avLst/>
          </a:prstGeom>
          <a:noFill/>
          <a:ln/>
        </p:spPr>
        <p:txBody>
          <a:bodyPr wrap="none" lIns="0" tIns="0" rIns="0" bIns="0" rtlCol="0" anchor="t"/>
          <a:lstStyle/>
          <a:p>
            <a:pPr algn="r" indent="0" marL="0">
              <a:lnSpc>
                <a:spcPts val="2750"/>
              </a:lnSpc>
              <a:buNone/>
            </a:pPr>
            <a:r>
              <a:rPr lang="en-US" sz="2200" dirty="0">
                <a:solidFill>
                  <a:srgbClr val="2B4150"/>
                </a:solidFill>
                <a:latin typeface="MuseoModerno Medium" pitchFamily="34" charset="0"/>
                <a:ea typeface="MuseoModerno Medium" pitchFamily="34" charset="-122"/>
                <a:cs typeface="MuseoModerno Medium" pitchFamily="34" charset="-120"/>
              </a:rPr>
              <a:t>Support &amp; Notifications</a:t>
            </a:r>
            <a:endParaRPr lang="en-US" sz="2200" dirty="0"/>
          </a:p>
        </p:txBody>
      </p:sp>
      <p:sp>
        <p:nvSpPr>
          <p:cNvPr id="20" name="Text 10"/>
          <p:cNvSpPr/>
          <p:nvPr/>
        </p:nvSpPr>
        <p:spPr>
          <a:xfrm>
            <a:off x="793790" y="5804535"/>
            <a:ext cx="4238863" cy="725805"/>
          </a:xfrm>
          <a:prstGeom prst="rect">
            <a:avLst/>
          </a:prstGeom>
          <a:noFill/>
          <a:ln/>
        </p:spPr>
        <p:txBody>
          <a:bodyPr wrap="square" lIns="0" tIns="0" rIns="0" bIns="0" rtlCol="0" anchor="t"/>
          <a:lstStyle/>
          <a:p>
            <a:pPr algn="r" indent="0" marL="0">
              <a:lnSpc>
                <a:spcPts val="2850"/>
              </a:lnSpc>
              <a:buNone/>
            </a:pPr>
            <a:r>
              <a:rPr lang="en-US" sz="1750" dirty="0">
                <a:solidFill>
                  <a:srgbClr val="2B4150"/>
                </a:solidFill>
                <a:latin typeface="Source Sans Pro" pitchFamily="34" charset="0"/>
                <a:ea typeface="Source Sans Pro" pitchFamily="34" charset="-122"/>
                <a:cs typeface="Source Sans Pro" pitchFamily="34" charset="-120"/>
              </a:rPr>
              <a:t>Provides customer support and sends alerts to users.</a:t>
            </a:r>
            <a:endParaRPr lang="en-US" sz="1750" dirty="0"/>
          </a:p>
        </p:txBody>
      </p:sp>
      <p:pic>
        <p:nvPicPr>
          <p:cNvPr id="21" name="Image 8" descr="preencoded.png">    </p:cNvPr>
          <p:cNvPicPr>
            <a:picLocks noChangeAspect="1"/>
          </p:cNvPicPr>
          <p:nvPr/>
        </p:nvPicPr>
        <p:blipFill>
          <a:blip r:embed="rId9"/>
          <a:stretch>
            <a:fillRect/>
          </a:stretch>
        </p:blipFill>
        <p:spPr>
          <a:xfrm>
            <a:off x="5032653" y="2413516"/>
            <a:ext cx="4564975" cy="4564975"/>
          </a:xfrm>
          <a:prstGeom prst="rect">
            <a:avLst/>
          </a:prstGeom>
        </p:spPr>
      </p:pic>
      <p:pic>
        <p:nvPicPr>
          <p:cNvPr id="22" name="Image 9" descr="preencoded.png">    </p:cNvPr>
          <p:cNvPicPr>
            <a:picLocks noChangeAspect="1"/>
          </p:cNvPicPr>
          <p:nvPr/>
        </p:nvPicPr>
        <p:blipFill>
          <a:blip r:embed="rId10"/>
          <a:stretch>
            <a:fillRect/>
          </a:stretch>
        </p:blipFill>
        <p:spPr>
          <a:xfrm>
            <a:off x="6204585" y="5187553"/>
            <a:ext cx="318968" cy="39862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19852" y="565547"/>
            <a:ext cx="13190696" cy="1692950"/>
          </a:xfrm>
          <a:prstGeom prst="rect">
            <a:avLst/>
          </a:prstGeom>
        </p:spPr>
      </p:pic>
      <p:sp>
        <p:nvSpPr>
          <p:cNvPr id="3" name="Text 0"/>
          <p:cNvSpPr/>
          <p:nvPr/>
        </p:nvSpPr>
        <p:spPr>
          <a:xfrm>
            <a:off x="719852" y="2566988"/>
            <a:ext cx="5142309" cy="642699"/>
          </a:xfrm>
          <a:prstGeom prst="rect">
            <a:avLst/>
          </a:prstGeom>
          <a:noFill/>
          <a:ln/>
        </p:spPr>
        <p:txBody>
          <a:bodyPr wrap="none" lIns="0" tIns="0" rIns="0" bIns="0" rtlCol="0" anchor="t"/>
          <a:lstStyle/>
          <a:p>
            <a:pPr algn="l" indent="0" marL="0">
              <a:lnSpc>
                <a:spcPts val="5050"/>
              </a:lnSpc>
              <a:buNone/>
            </a:pPr>
            <a:r>
              <a:rPr lang="en-US" sz="4000" dirty="0">
                <a:solidFill>
                  <a:srgbClr val="124E73"/>
                </a:solidFill>
                <a:latin typeface="MuseoModerno Medium" pitchFamily="34" charset="0"/>
                <a:ea typeface="MuseoModerno Medium" pitchFamily="34" charset="-122"/>
                <a:cs typeface="MuseoModerno Medium" pitchFamily="34" charset="-120"/>
              </a:rPr>
              <a:t>Project Planning</a:t>
            </a:r>
            <a:endParaRPr lang="en-US" sz="4000" dirty="0"/>
          </a:p>
        </p:txBody>
      </p:sp>
      <p:sp>
        <p:nvSpPr>
          <p:cNvPr id="4" name="Shape 1"/>
          <p:cNvSpPr/>
          <p:nvPr/>
        </p:nvSpPr>
        <p:spPr>
          <a:xfrm>
            <a:off x="719852" y="5772983"/>
            <a:ext cx="13190696" cy="22860"/>
          </a:xfrm>
          <a:prstGeom prst="roundRect">
            <a:avLst>
              <a:gd name="adj" fmla="val 134970"/>
            </a:avLst>
          </a:prstGeom>
          <a:solidFill>
            <a:srgbClr val="D9D4C9"/>
          </a:solidFill>
          <a:ln/>
        </p:spPr>
      </p:sp>
      <p:sp>
        <p:nvSpPr>
          <p:cNvPr id="5" name="Shape 2"/>
          <p:cNvSpPr/>
          <p:nvPr/>
        </p:nvSpPr>
        <p:spPr>
          <a:xfrm>
            <a:off x="3284696" y="5156061"/>
            <a:ext cx="22860" cy="616982"/>
          </a:xfrm>
          <a:prstGeom prst="roundRect">
            <a:avLst>
              <a:gd name="adj" fmla="val 134970"/>
            </a:avLst>
          </a:prstGeom>
          <a:solidFill>
            <a:srgbClr val="D9D4C9"/>
          </a:solidFill>
          <a:ln/>
        </p:spPr>
      </p:sp>
      <p:sp>
        <p:nvSpPr>
          <p:cNvPr id="6" name="Shape 3"/>
          <p:cNvSpPr/>
          <p:nvPr/>
        </p:nvSpPr>
        <p:spPr>
          <a:xfrm>
            <a:off x="3064788" y="5541585"/>
            <a:ext cx="462796" cy="462796"/>
          </a:xfrm>
          <a:prstGeom prst="roundRect">
            <a:avLst>
              <a:gd name="adj" fmla="val 6667"/>
            </a:avLst>
          </a:prstGeom>
          <a:solidFill>
            <a:srgbClr val="F3EEE3"/>
          </a:solidFill>
          <a:ln/>
        </p:spPr>
      </p:sp>
      <p:pic>
        <p:nvPicPr>
          <p:cNvPr id="7" name="Image 1" descr="preencoded.png">    </p:cNvPr>
          <p:cNvPicPr>
            <a:picLocks noChangeAspect="1"/>
          </p:cNvPicPr>
          <p:nvPr/>
        </p:nvPicPr>
        <p:blipFill>
          <a:blip r:embed="rId2"/>
          <a:stretch>
            <a:fillRect/>
          </a:stretch>
        </p:blipFill>
        <p:spPr>
          <a:xfrm>
            <a:off x="3141881" y="5580102"/>
            <a:ext cx="308491" cy="385643"/>
          </a:xfrm>
          <a:prstGeom prst="rect">
            <a:avLst/>
          </a:prstGeom>
        </p:spPr>
      </p:pic>
      <p:sp>
        <p:nvSpPr>
          <p:cNvPr id="8" name="Text 4"/>
          <p:cNvSpPr/>
          <p:nvPr/>
        </p:nvSpPr>
        <p:spPr>
          <a:xfrm>
            <a:off x="2010728" y="3518178"/>
            <a:ext cx="2571155" cy="321469"/>
          </a:xfrm>
          <a:prstGeom prst="rect">
            <a:avLst/>
          </a:prstGeom>
          <a:noFill/>
          <a:ln/>
        </p:spPr>
        <p:txBody>
          <a:bodyPr wrap="none" lIns="0" tIns="0" rIns="0" bIns="0" rtlCol="0" anchor="t"/>
          <a:lstStyle/>
          <a:p>
            <a:pPr algn="ctr" indent="0" marL="0">
              <a:lnSpc>
                <a:spcPts val="2500"/>
              </a:lnSpc>
              <a:buNone/>
            </a:pPr>
            <a:r>
              <a:rPr lang="en-US" sz="2000" dirty="0">
                <a:solidFill>
                  <a:srgbClr val="2B4150"/>
                </a:solidFill>
                <a:latin typeface="MuseoModerno Medium" pitchFamily="34" charset="0"/>
                <a:ea typeface="MuseoModerno Medium" pitchFamily="34" charset="-122"/>
                <a:cs typeface="MuseoModerno Medium" pitchFamily="34" charset="-120"/>
              </a:rPr>
              <a:t>Work Breakdown</a:t>
            </a:r>
            <a:endParaRPr lang="en-US" sz="2000" dirty="0"/>
          </a:p>
        </p:txBody>
      </p:sp>
      <p:sp>
        <p:nvSpPr>
          <p:cNvPr id="9" name="Text 5"/>
          <p:cNvSpPr/>
          <p:nvPr/>
        </p:nvSpPr>
        <p:spPr>
          <a:xfrm>
            <a:off x="925473" y="3962995"/>
            <a:ext cx="4741664" cy="987266"/>
          </a:xfrm>
          <a:prstGeom prst="rect">
            <a:avLst/>
          </a:prstGeom>
          <a:noFill/>
          <a:ln/>
        </p:spPr>
        <p:txBody>
          <a:bodyPr wrap="square" lIns="0" tIns="0" rIns="0" bIns="0" rtlCol="0" anchor="t"/>
          <a:lstStyle/>
          <a:p>
            <a:pPr algn="ctr" indent="0" marL="0">
              <a:lnSpc>
                <a:spcPts val="2550"/>
              </a:lnSpc>
              <a:buNone/>
            </a:pPr>
            <a:r>
              <a:rPr lang="en-US" sz="1600" dirty="0">
                <a:solidFill>
                  <a:srgbClr val="2B4150"/>
                </a:solidFill>
                <a:latin typeface="Source Sans Pro" pitchFamily="34" charset="0"/>
                <a:ea typeface="Source Sans Pro" pitchFamily="34" charset="-122"/>
                <a:cs typeface="Source Sans Pro" pitchFamily="34" charset="-120"/>
              </a:rPr>
              <a:t>Project divided into User Authentication, Property Listings, Booking System, Reviews, and Administration components.</a:t>
            </a:r>
            <a:endParaRPr lang="en-US" sz="1600" dirty="0"/>
          </a:p>
        </p:txBody>
      </p:sp>
      <p:sp>
        <p:nvSpPr>
          <p:cNvPr id="10" name="Shape 6"/>
          <p:cNvSpPr/>
          <p:nvPr/>
        </p:nvSpPr>
        <p:spPr>
          <a:xfrm>
            <a:off x="5963960" y="5772924"/>
            <a:ext cx="22860" cy="616982"/>
          </a:xfrm>
          <a:prstGeom prst="roundRect">
            <a:avLst>
              <a:gd name="adj" fmla="val 134970"/>
            </a:avLst>
          </a:prstGeom>
          <a:solidFill>
            <a:srgbClr val="D9D4C9"/>
          </a:solidFill>
          <a:ln/>
        </p:spPr>
      </p:sp>
      <p:sp>
        <p:nvSpPr>
          <p:cNvPr id="11" name="Shape 7"/>
          <p:cNvSpPr/>
          <p:nvPr/>
        </p:nvSpPr>
        <p:spPr>
          <a:xfrm>
            <a:off x="5744051" y="5541585"/>
            <a:ext cx="462796" cy="462796"/>
          </a:xfrm>
          <a:prstGeom prst="roundRect">
            <a:avLst>
              <a:gd name="adj" fmla="val 6667"/>
            </a:avLst>
          </a:prstGeom>
          <a:solidFill>
            <a:srgbClr val="F3EEE3"/>
          </a:solidFill>
          <a:ln/>
        </p:spPr>
      </p:sp>
      <p:pic>
        <p:nvPicPr>
          <p:cNvPr id="12" name="Image 2" descr="preencoded.png">    </p:cNvPr>
          <p:cNvPicPr>
            <a:picLocks noChangeAspect="1"/>
          </p:cNvPicPr>
          <p:nvPr/>
        </p:nvPicPr>
        <p:blipFill>
          <a:blip r:embed="rId3"/>
          <a:stretch>
            <a:fillRect/>
          </a:stretch>
        </p:blipFill>
        <p:spPr>
          <a:xfrm>
            <a:off x="5821144" y="5580102"/>
            <a:ext cx="308491" cy="385643"/>
          </a:xfrm>
          <a:prstGeom prst="rect">
            <a:avLst/>
          </a:prstGeom>
        </p:spPr>
      </p:pic>
      <p:sp>
        <p:nvSpPr>
          <p:cNvPr id="13" name="Text 8"/>
          <p:cNvSpPr/>
          <p:nvPr/>
        </p:nvSpPr>
        <p:spPr>
          <a:xfrm>
            <a:off x="4689991" y="6595705"/>
            <a:ext cx="2571155" cy="321469"/>
          </a:xfrm>
          <a:prstGeom prst="rect">
            <a:avLst/>
          </a:prstGeom>
          <a:noFill/>
          <a:ln/>
        </p:spPr>
        <p:txBody>
          <a:bodyPr wrap="none" lIns="0" tIns="0" rIns="0" bIns="0" rtlCol="0" anchor="t"/>
          <a:lstStyle/>
          <a:p>
            <a:pPr algn="ctr" indent="0" marL="0">
              <a:lnSpc>
                <a:spcPts val="2500"/>
              </a:lnSpc>
              <a:buNone/>
            </a:pPr>
            <a:r>
              <a:rPr lang="en-US" sz="2000" dirty="0">
                <a:solidFill>
                  <a:srgbClr val="2B4150"/>
                </a:solidFill>
                <a:latin typeface="MuseoModerno Medium" pitchFamily="34" charset="0"/>
                <a:ea typeface="MuseoModerno Medium" pitchFamily="34" charset="-122"/>
                <a:cs typeface="MuseoModerno Medium" pitchFamily="34" charset="-120"/>
              </a:rPr>
              <a:t>Sprint 1</a:t>
            </a:r>
            <a:endParaRPr lang="en-US" sz="2000" dirty="0"/>
          </a:p>
        </p:txBody>
      </p:sp>
      <p:sp>
        <p:nvSpPr>
          <p:cNvPr id="14" name="Text 9"/>
          <p:cNvSpPr/>
          <p:nvPr/>
        </p:nvSpPr>
        <p:spPr>
          <a:xfrm>
            <a:off x="3604736" y="7040523"/>
            <a:ext cx="4741664" cy="658178"/>
          </a:xfrm>
          <a:prstGeom prst="rect">
            <a:avLst/>
          </a:prstGeom>
          <a:noFill/>
          <a:ln/>
        </p:spPr>
        <p:txBody>
          <a:bodyPr wrap="square" lIns="0" tIns="0" rIns="0" bIns="0" rtlCol="0" anchor="t"/>
          <a:lstStyle/>
          <a:p>
            <a:pPr algn="ctr" indent="0" marL="0">
              <a:lnSpc>
                <a:spcPts val="2550"/>
              </a:lnSpc>
              <a:buNone/>
            </a:pPr>
            <a:r>
              <a:rPr lang="en-US" sz="1600" dirty="0">
                <a:solidFill>
                  <a:srgbClr val="2B4150"/>
                </a:solidFill>
                <a:latin typeface="Source Sans Pro" pitchFamily="34" charset="0"/>
                <a:ea typeface="Source Sans Pro" pitchFamily="34" charset="-122"/>
                <a:cs typeface="Source Sans Pro" pitchFamily="34" charset="-120"/>
              </a:rPr>
              <a:t>Focused on User Authentication, Property Listings, Image Upload, and Booking Confirmation features.</a:t>
            </a:r>
            <a:endParaRPr lang="en-US" sz="1600" dirty="0"/>
          </a:p>
        </p:txBody>
      </p:sp>
      <p:sp>
        <p:nvSpPr>
          <p:cNvPr id="15" name="Shape 10"/>
          <p:cNvSpPr/>
          <p:nvPr/>
        </p:nvSpPr>
        <p:spPr>
          <a:xfrm>
            <a:off x="8643223" y="5156061"/>
            <a:ext cx="22860" cy="616982"/>
          </a:xfrm>
          <a:prstGeom prst="roundRect">
            <a:avLst>
              <a:gd name="adj" fmla="val 134970"/>
            </a:avLst>
          </a:prstGeom>
          <a:solidFill>
            <a:srgbClr val="D9D4C9"/>
          </a:solidFill>
          <a:ln/>
        </p:spPr>
      </p:sp>
      <p:sp>
        <p:nvSpPr>
          <p:cNvPr id="16" name="Shape 11"/>
          <p:cNvSpPr/>
          <p:nvPr/>
        </p:nvSpPr>
        <p:spPr>
          <a:xfrm>
            <a:off x="8423315" y="5541585"/>
            <a:ext cx="462796" cy="462796"/>
          </a:xfrm>
          <a:prstGeom prst="roundRect">
            <a:avLst>
              <a:gd name="adj" fmla="val 6667"/>
            </a:avLst>
          </a:prstGeom>
          <a:solidFill>
            <a:srgbClr val="F3EEE3"/>
          </a:solidFill>
          <a:ln/>
        </p:spPr>
      </p:sp>
      <p:pic>
        <p:nvPicPr>
          <p:cNvPr id="17" name="Image 3" descr="preencoded.png">    </p:cNvPr>
          <p:cNvPicPr>
            <a:picLocks noChangeAspect="1"/>
          </p:cNvPicPr>
          <p:nvPr/>
        </p:nvPicPr>
        <p:blipFill>
          <a:blip r:embed="rId4"/>
          <a:stretch>
            <a:fillRect/>
          </a:stretch>
        </p:blipFill>
        <p:spPr>
          <a:xfrm>
            <a:off x="8500408" y="5580102"/>
            <a:ext cx="308491" cy="385643"/>
          </a:xfrm>
          <a:prstGeom prst="rect">
            <a:avLst/>
          </a:prstGeom>
        </p:spPr>
      </p:pic>
      <p:sp>
        <p:nvSpPr>
          <p:cNvPr id="18" name="Text 12"/>
          <p:cNvSpPr/>
          <p:nvPr/>
        </p:nvSpPr>
        <p:spPr>
          <a:xfrm>
            <a:off x="7369254" y="3847267"/>
            <a:ext cx="2571155" cy="321469"/>
          </a:xfrm>
          <a:prstGeom prst="rect">
            <a:avLst/>
          </a:prstGeom>
          <a:noFill/>
          <a:ln/>
        </p:spPr>
        <p:txBody>
          <a:bodyPr wrap="none" lIns="0" tIns="0" rIns="0" bIns="0" rtlCol="0" anchor="t"/>
          <a:lstStyle/>
          <a:p>
            <a:pPr algn="ctr" indent="0" marL="0">
              <a:lnSpc>
                <a:spcPts val="2500"/>
              </a:lnSpc>
              <a:buNone/>
            </a:pPr>
            <a:r>
              <a:rPr lang="en-US" sz="2000" dirty="0">
                <a:solidFill>
                  <a:srgbClr val="2B4150"/>
                </a:solidFill>
                <a:latin typeface="MuseoModerno Medium" pitchFamily="34" charset="0"/>
                <a:ea typeface="MuseoModerno Medium" pitchFamily="34" charset="-122"/>
                <a:cs typeface="MuseoModerno Medium" pitchFamily="34" charset="-120"/>
              </a:rPr>
              <a:t>Sprint 2</a:t>
            </a:r>
            <a:endParaRPr lang="en-US" sz="2000" dirty="0"/>
          </a:p>
        </p:txBody>
      </p:sp>
      <p:sp>
        <p:nvSpPr>
          <p:cNvPr id="19" name="Text 13"/>
          <p:cNvSpPr/>
          <p:nvPr/>
        </p:nvSpPr>
        <p:spPr>
          <a:xfrm>
            <a:off x="6284000" y="4292084"/>
            <a:ext cx="4741664" cy="658178"/>
          </a:xfrm>
          <a:prstGeom prst="rect">
            <a:avLst/>
          </a:prstGeom>
          <a:noFill/>
          <a:ln/>
        </p:spPr>
        <p:txBody>
          <a:bodyPr wrap="square" lIns="0" tIns="0" rIns="0" bIns="0" rtlCol="0" anchor="t"/>
          <a:lstStyle/>
          <a:p>
            <a:pPr algn="ctr" indent="0" marL="0">
              <a:lnSpc>
                <a:spcPts val="2550"/>
              </a:lnSpc>
              <a:buNone/>
            </a:pPr>
            <a:r>
              <a:rPr lang="en-US" sz="1600" dirty="0">
                <a:solidFill>
                  <a:srgbClr val="2B4150"/>
                </a:solidFill>
                <a:latin typeface="Source Sans Pro" pitchFamily="34" charset="0"/>
                <a:ea typeface="Source Sans Pro" pitchFamily="34" charset="-122"/>
                <a:cs typeface="Source Sans Pro" pitchFamily="34" charset="-120"/>
              </a:rPr>
              <a:t>Implemented Advanced Filtering, Host Cancellation Policy, Trending Destinations, and Admin Moderation.</a:t>
            </a:r>
            <a:endParaRPr lang="en-US" sz="1600" dirty="0"/>
          </a:p>
        </p:txBody>
      </p:sp>
      <p:sp>
        <p:nvSpPr>
          <p:cNvPr id="20" name="Shape 14"/>
          <p:cNvSpPr/>
          <p:nvPr/>
        </p:nvSpPr>
        <p:spPr>
          <a:xfrm>
            <a:off x="11322487" y="5772924"/>
            <a:ext cx="22860" cy="616982"/>
          </a:xfrm>
          <a:prstGeom prst="roundRect">
            <a:avLst>
              <a:gd name="adj" fmla="val 134970"/>
            </a:avLst>
          </a:prstGeom>
          <a:solidFill>
            <a:srgbClr val="D9D4C9"/>
          </a:solidFill>
          <a:ln/>
        </p:spPr>
      </p:sp>
      <p:sp>
        <p:nvSpPr>
          <p:cNvPr id="21" name="Shape 15"/>
          <p:cNvSpPr/>
          <p:nvPr/>
        </p:nvSpPr>
        <p:spPr>
          <a:xfrm>
            <a:off x="11102578" y="5541585"/>
            <a:ext cx="462796" cy="462796"/>
          </a:xfrm>
          <a:prstGeom prst="roundRect">
            <a:avLst>
              <a:gd name="adj" fmla="val 6667"/>
            </a:avLst>
          </a:prstGeom>
          <a:solidFill>
            <a:srgbClr val="F3EEE3"/>
          </a:solidFill>
          <a:ln/>
        </p:spPr>
      </p:sp>
      <p:pic>
        <p:nvPicPr>
          <p:cNvPr id="22" name="Image 4" descr="preencoded.png">    </p:cNvPr>
          <p:cNvPicPr>
            <a:picLocks noChangeAspect="1"/>
          </p:cNvPicPr>
          <p:nvPr/>
        </p:nvPicPr>
        <p:blipFill>
          <a:blip r:embed="rId5"/>
          <a:stretch>
            <a:fillRect/>
          </a:stretch>
        </p:blipFill>
        <p:spPr>
          <a:xfrm>
            <a:off x="11179671" y="5580102"/>
            <a:ext cx="308491" cy="385643"/>
          </a:xfrm>
          <a:prstGeom prst="rect">
            <a:avLst/>
          </a:prstGeom>
        </p:spPr>
      </p:pic>
      <p:sp>
        <p:nvSpPr>
          <p:cNvPr id="23" name="Text 16"/>
          <p:cNvSpPr/>
          <p:nvPr/>
        </p:nvSpPr>
        <p:spPr>
          <a:xfrm>
            <a:off x="10048518" y="6595705"/>
            <a:ext cx="2571155" cy="321469"/>
          </a:xfrm>
          <a:prstGeom prst="rect">
            <a:avLst/>
          </a:prstGeom>
          <a:noFill/>
          <a:ln/>
        </p:spPr>
        <p:txBody>
          <a:bodyPr wrap="none" lIns="0" tIns="0" rIns="0" bIns="0" rtlCol="0" anchor="t"/>
          <a:lstStyle/>
          <a:p>
            <a:pPr algn="ctr" indent="0" marL="0">
              <a:lnSpc>
                <a:spcPts val="2500"/>
              </a:lnSpc>
              <a:buNone/>
            </a:pPr>
            <a:r>
              <a:rPr lang="en-US" sz="2000" dirty="0">
                <a:solidFill>
                  <a:srgbClr val="2B4150"/>
                </a:solidFill>
                <a:latin typeface="MuseoModerno Medium" pitchFamily="34" charset="0"/>
                <a:ea typeface="MuseoModerno Medium" pitchFamily="34" charset="-122"/>
                <a:cs typeface="MuseoModerno Medium" pitchFamily="34" charset="-120"/>
              </a:rPr>
              <a:t>Burndown</a:t>
            </a:r>
            <a:endParaRPr lang="en-US" sz="2000" dirty="0"/>
          </a:p>
        </p:txBody>
      </p:sp>
      <p:sp>
        <p:nvSpPr>
          <p:cNvPr id="24" name="Text 17"/>
          <p:cNvSpPr/>
          <p:nvPr/>
        </p:nvSpPr>
        <p:spPr>
          <a:xfrm>
            <a:off x="8963263" y="7040523"/>
            <a:ext cx="4741664" cy="658178"/>
          </a:xfrm>
          <a:prstGeom prst="rect">
            <a:avLst/>
          </a:prstGeom>
          <a:noFill/>
          <a:ln/>
        </p:spPr>
        <p:txBody>
          <a:bodyPr wrap="square" lIns="0" tIns="0" rIns="0" bIns="0" rtlCol="0" anchor="t"/>
          <a:lstStyle/>
          <a:p>
            <a:pPr algn="ctr" indent="0" marL="0">
              <a:lnSpc>
                <a:spcPts val="2550"/>
              </a:lnSpc>
              <a:buNone/>
            </a:pPr>
            <a:r>
              <a:rPr lang="en-US" sz="1600" dirty="0">
                <a:solidFill>
                  <a:srgbClr val="2B4150"/>
                </a:solidFill>
                <a:latin typeface="Source Sans Pro" pitchFamily="34" charset="0"/>
                <a:ea typeface="Source Sans Pro" pitchFamily="34" charset="-122"/>
                <a:cs typeface="Source Sans Pro" pitchFamily="34" charset="-120"/>
              </a:rPr>
              <a:t>Project completed ahead of schedule with consistent velocity throughout development phases.</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1663779"/>
            <a:ext cx="5670590" cy="708779"/>
          </a:xfrm>
          <a:prstGeom prst="rect">
            <a:avLst/>
          </a:prstGeom>
          <a:noFill/>
          <a:ln/>
        </p:spPr>
        <p:txBody>
          <a:bodyPr wrap="none" lIns="0" tIns="0" rIns="0" bIns="0" rtlCol="0" anchor="t"/>
          <a:lstStyle/>
          <a:p>
            <a:pPr algn="l" indent="0" marL="0">
              <a:lnSpc>
                <a:spcPts val="5550"/>
              </a:lnSpc>
              <a:buNone/>
            </a:pPr>
            <a:r>
              <a:rPr lang="en-US" sz="4450" dirty="0">
                <a:solidFill>
                  <a:srgbClr val="124E73"/>
                </a:solidFill>
                <a:latin typeface="MuseoModerno Medium" pitchFamily="34" charset="0"/>
                <a:ea typeface="MuseoModerno Medium" pitchFamily="34" charset="-122"/>
                <a:cs typeface="MuseoModerno Medium" pitchFamily="34" charset="-120"/>
              </a:rPr>
              <a:t>User Stories</a:t>
            </a:r>
            <a:endParaRPr lang="en-US" sz="4450" dirty="0"/>
          </a:p>
        </p:txBody>
      </p:sp>
      <p:sp>
        <p:nvSpPr>
          <p:cNvPr id="3" name="Shape 1"/>
          <p:cNvSpPr/>
          <p:nvPr/>
        </p:nvSpPr>
        <p:spPr>
          <a:xfrm>
            <a:off x="793790" y="2826187"/>
            <a:ext cx="4196358" cy="3121462"/>
          </a:xfrm>
          <a:prstGeom prst="roundRect">
            <a:avLst>
              <a:gd name="adj" fmla="val 1090"/>
            </a:avLst>
          </a:prstGeom>
          <a:solidFill>
            <a:srgbClr val="F3EEE3"/>
          </a:solidFill>
          <a:ln/>
        </p:spPr>
      </p:sp>
      <p:sp>
        <p:nvSpPr>
          <p:cNvPr id="4" name="Text 2"/>
          <p:cNvSpPr/>
          <p:nvPr/>
        </p:nvSpPr>
        <p:spPr>
          <a:xfrm>
            <a:off x="1020604" y="3053001"/>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2B4150"/>
                </a:solidFill>
                <a:latin typeface="MuseoModerno Medium" pitchFamily="34" charset="0"/>
                <a:ea typeface="MuseoModerno Medium" pitchFamily="34" charset="-122"/>
                <a:cs typeface="MuseoModerno Medium" pitchFamily="34" charset="-120"/>
              </a:rPr>
              <a:t>User Registration</a:t>
            </a:r>
            <a:endParaRPr lang="en-US" sz="2200" dirty="0"/>
          </a:p>
        </p:txBody>
      </p:sp>
      <p:sp>
        <p:nvSpPr>
          <p:cNvPr id="5" name="Text 3"/>
          <p:cNvSpPr/>
          <p:nvPr/>
        </p:nvSpPr>
        <p:spPr>
          <a:xfrm>
            <a:off x="1020604" y="3543419"/>
            <a:ext cx="3742730" cy="1814513"/>
          </a:xfrm>
          <a:prstGeom prst="rect">
            <a:avLst/>
          </a:prstGeom>
          <a:noFill/>
          <a:ln/>
        </p:spPr>
        <p:txBody>
          <a:bodyPr wrap="square" lIns="0" tIns="0" rIns="0" bIns="0" rtlCol="0" anchor="t"/>
          <a:lstStyle/>
          <a:p>
            <a:pPr algn="l" indent="0" marL="0">
              <a:lnSpc>
                <a:spcPts val="2850"/>
              </a:lnSpc>
              <a:buNone/>
            </a:pPr>
            <a:r>
              <a:rPr lang="en-US" sz="1750" dirty="0">
                <a:solidFill>
                  <a:srgbClr val="2B4150"/>
                </a:solidFill>
                <a:latin typeface="Source Sans Pro" pitchFamily="34" charset="0"/>
                <a:ea typeface="Source Sans Pro" pitchFamily="34" charset="-122"/>
                <a:cs typeface="Source Sans Pro" pitchFamily="34" charset="-120"/>
              </a:rPr>
              <a:t>As a user, I want to sign up with my email so that I can create an account. System should create the account with valid credentials and show error for duplicate emails.</a:t>
            </a:r>
            <a:endParaRPr lang="en-US" sz="1750" dirty="0"/>
          </a:p>
        </p:txBody>
      </p:sp>
      <p:sp>
        <p:nvSpPr>
          <p:cNvPr id="6" name="Shape 4"/>
          <p:cNvSpPr/>
          <p:nvPr/>
        </p:nvSpPr>
        <p:spPr>
          <a:xfrm>
            <a:off x="5216962" y="2826187"/>
            <a:ext cx="4196358" cy="3121462"/>
          </a:xfrm>
          <a:prstGeom prst="roundRect">
            <a:avLst>
              <a:gd name="adj" fmla="val 1090"/>
            </a:avLst>
          </a:prstGeom>
          <a:solidFill>
            <a:srgbClr val="F3EEE3"/>
          </a:solidFill>
          <a:ln/>
        </p:spPr>
      </p:sp>
      <p:sp>
        <p:nvSpPr>
          <p:cNvPr id="7" name="Text 5"/>
          <p:cNvSpPr/>
          <p:nvPr/>
        </p:nvSpPr>
        <p:spPr>
          <a:xfrm>
            <a:off x="5443776" y="3053001"/>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2B4150"/>
                </a:solidFill>
                <a:latin typeface="MuseoModerno Medium" pitchFamily="34" charset="0"/>
                <a:ea typeface="MuseoModerno Medium" pitchFamily="34" charset="-122"/>
                <a:cs typeface="MuseoModerno Medium" pitchFamily="34" charset="-120"/>
              </a:rPr>
              <a:t>Property Listing</a:t>
            </a:r>
            <a:endParaRPr lang="en-US" sz="2200" dirty="0"/>
          </a:p>
        </p:txBody>
      </p:sp>
      <p:sp>
        <p:nvSpPr>
          <p:cNvPr id="8" name="Text 6"/>
          <p:cNvSpPr/>
          <p:nvPr/>
        </p:nvSpPr>
        <p:spPr>
          <a:xfrm>
            <a:off x="5443776" y="3543419"/>
            <a:ext cx="3742730" cy="2177415"/>
          </a:xfrm>
          <a:prstGeom prst="rect">
            <a:avLst/>
          </a:prstGeom>
          <a:noFill/>
          <a:ln/>
        </p:spPr>
        <p:txBody>
          <a:bodyPr wrap="square" lIns="0" tIns="0" rIns="0" bIns="0" rtlCol="0" anchor="t"/>
          <a:lstStyle/>
          <a:p>
            <a:pPr algn="l" indent="0" marL="0">
              <a:lnSpc>
                <a:spcPts val="2850"/>
              </a:lnSpc>
              <a:buNone/>
            </a:pPr>
            <a:r>
              <a:rPr lang="en-US" sz="1750" dirty="0">
                <a:solidFill>
                  <a:srgbClr val="2B4150"/>
                </a:solidFill>
                <a:latin typeface="Source Sans Pro" pitchFamily="34" charset="0"/>
                <a:ea typeface="Source Sans Pro" pitchFamily="34" charset="-122"/>
                <a:cs typeface="Source Sans Pro" pitchFamily="34" charset="-120"/>
              </a:rPr>
              <a:t>As a host, I want to add a new property listing so that guests can book it. System should add property with complete details and reject submissions with missing mandatory fields.</a:t>
            </a:r>
            <a:endParaRPr lang="en-US" sz="1750" dirty="0"/>
          </a:p>
        </p:txBody>
      </p:sp>
      <p:sp>
        <p:nvSpPr>
          <p:cNvPr id="9" name="Shape 7"/>
          <p:cNvSpPr/>
          <p:nvPr/>
        </p:nvSpPr>
        <p:spPr>
          <a:xfrm>
            <a:off x="9640133" y="2826187"/>
            <a:ext cx="4196358" cy="3121462"/>
          </a:xfrm>
          <a:prstGeom prst="roundRect">
            <a:avLst>
              <a:gd name="adj" fmla="val 1090"/>
            </a:avLst>
          </a:prstGeom>
          <a:solidFill>
            <a:srgbClr val="F3EEE3"/>
          </a:solidFill>
          <a:ln/>
        </p:spPr>
      </p:sp>
      <p:sp>
        <p:nvSpPr>
          <p:cNvPr id="10" name="Text 8"/>
          <p:cNvSpPr/>
          <p:nvPr/>
        </p:nvSpPr>
        <p:spPr>
          <a:xfrm>
            <a:off x="9866948" y="3053001"/>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2B4150"/>
                </a:solidFill>
                <a:latin typeface="MuseoModerno Medium" pitchFamily="34" charset="0"/>
                <a:ea typeface="MuseoModerno Medium" pitchFamily="34" charset="-122"/>
                <a:cs typeface="MuseoModerno Medium" pitchFamily="34" charset="-120"/>
              </a:rPr>
              <a:t>Property Filtering</a:t>
            </a:r>
            <a:endParaRPr lang="en-US" sz="2200" dirty="0"/>
          </a:p>
        </p:txBody>
      </p:sp>
      <p:sp>
        <p:nvSpPr>
          <p:cNvPr id="11" name="Text 9"/>
          <p:cNvSpPr/>
          <p:nvPr/>
        </p:nvSpPr>
        <p:spPr>
          <a:xfrm>
            <a:off x="9866948" y="3543419"/>
            <a:ext cx="3742730" cy="1814513"/>
          </a:xfrm>
          <a:prstGeom prst="rect">
            <a:avLst/>
          </a:prstGeom>
          <a:noFill/>
          <a:ln/>
        </p:spPr>
        <p:txBody>
          <a:bodyPr wrap="square" lIns="0" tIns="0" rIns="0" bIns="0" rtlCol="0" anchor="t"/>
          <a:lstStyle/>
          <a:p>
            <a:pPr algn="l" indent="0" marL="0">
              <a:lnSpc>
                <a:spcPts val="2850"/>
              </a:lnSpc>
              <a:buNone/>
            </a:pPr>
            <a:r>
              <a:rPr lang="en-US" sz="1750" dirty="0">
                <a:solidFill>
                  <a:srgbClr val="2B4150"/>
                </a:solidFill>
                <a:latin typeface="Source Sans Pro" pitchFamily="34" charset="0"/>
                <a:ea typeface="Source Sans Pro" pitchFamily="34" charset="-122"/>
                <a:cs typeface="Source Sans Pro" pitchFamily="34" charset="-120"/>
              </a:rPr>
              <a:t>As a guest, I want to filter properties based on amenities so that I can find a property that meets my needs. System should display matching properties or show "No Listings Found" message.</a:t>
            </a:r>
            <a:endParaRPr lang="en-US" sz="1750" dirty="0"/>
          </a:p>
        </p:txBody>
      </p:sp>
      <p:sp>
        <p:nvSpPr>
          <p:cNvPr id="12" name="Text 10"/>
          <p:cNvSpPr/>
          <p:nvPr/>
        </p:nvSpPr>
        <p:spPr>
          <a:xfrm>
            <a:off x="793790" y="6202799"/>
            <a:ext cx="13042821" cy="362903"/>
          </a:xfrm>
          <a:prstGeom prst="rect">
            <a:avLst/>
          </a:prstGeom>
          <a:noFill/>
          <a:ln/>
        </p:spPr>
        <p:txBody>
          <a:bodyPr wrap="none" lIns="0" tIns="0" rIns="0" bIns="0" rtlCol="0" anchor="t"/>
          <a:lstStyle/>
          <a:p>
            <a:pPr algn="l" indent="0" marL="0">
              <a:lnSpc>
                <a:spcPts val="2850"/>
              </a:lnSpc>
              <a:buNone/>
            </a:pPr>
            <a:r>
              <a:rPr lang="en-US" sz="1750" dirty="0">
                <a:solidFill>
                  <a:srgbClr val="2B4150"/>
                </a:solidFill>
                <a:latin typeface="Source Sans Pro" pitchFamily="34" charset="0"/>
                <a:ea typeface="Source Sans Pro" pitchFamily="34" charset="-122"/>
                <a:cs typeface="Source Sans Pro" pitchFamily="34" charset="-120"/>
              </a:rPr>
              <a:t>These user stories guided development by ensuring features were built with clear acceptance criteria and user-centered design principles.</a:t>
            </a:r>
            <a:endParaRPr lang="en-US" sz="1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396835" y="311825"/>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124E73"/>
                </a:solidFill>
                <a:latin typeface="MuseoModerno Medium" pitchFamily="34" charset="0"/>
                <a:ea typeface="MuseoModerno Medium" pitchFamily="34" charset="-122"/>
                <a:cs typeface="MuseoModerno Medium" pitchFamily="34" charset="-120"/>
              </a:rPr>
              <a:t>Testing Approach</a:t>
            </a:r>
            <a:endParaRPr lang="en-US" sz="2200" dirty="0"/>
          </a:p>
        </p:txBody>
      </p:sp>
      <p:sp>
        <p:nvSpPr>
          <p:cNvPr id="3" name="Text 1"/>
          <p:cNvSpPr/>
          <p:nvPr/>
        </p:nvSpPr>
        <p:spPr>
          <a:xfrm>
            <a:off x="396835" y="949523"/>
            <a:ext cx="1417558" cy="177165"/>
          </a:xfrm>
          <a:prstGeom prst="rect">
            <a:avLst/>
          </a:prstGeom>
          <a:noFill/>
          <a:ln/>
        </p:spPr>
        <p:txBody>
          <a:bodyPr wrap="none" lIns="0" tIns="0" rIns="0" bIns="0" rtlCol="0" anchor="t"/>
          <a:lstStyle/>
          <a:p>
            <a:pPr algn="l" indent="0" marL="0">
              <a:lnSpc>
                <a:spcPts val="1350"/>
              </a:lnSpc>
              <a:buNone/>
            </a:pPr>
            <a:r>
              <a:rPr lang="en-US" sz="1100" dirty="0">
                <a:solidFill>
                  <a:srgbClr val="124E73"/>
                </a:solidFill>
                <a:latin typeface="MuseoModerno Medium" pitchFamily="34" charset="0"/>
                <a:ea typeface="MuseoModerno Medium" pitchFamily="34" charset="-122"/>
                <a:cs typeface="MuseoModerno Medium" pitchFamily="34" charset="-120"/>
              </a:rPr>
              <a:t>White Box Testing</a:t>
            </a:r>
            <a:endParaRPr lang="en-US" sz="1100" dirty="0"/>
          </a:p>
        </p:txBody>
      </p:sp>
      <p:sp>
        <p:nvSpPr>
          <p:cNvPr id="4" name="Text 2"/>
          <p:cNvSpPr/>
          <p:nvPr/>
        </p:nvSpPr>
        <p:spPr>
          <a:xfrm>
            <a:off x="396835" y="1240036"/>
            <a:ext cx="1417558" cy="177165"/>
          </a:xfrm>
          <a:prstGeom prst="rect">
            <a:avLst/>
          </a:prstGeom>
          <a:noFill/>
          <a:ln/>
        </p:spPr>
        <p:txBody>
          <a:bodyPr wrap="none" lIns="0" tIns="0" rIns="0" bIns="0" rtlCol="0" anchor="t"/>
          <a:lstStyle/>
          <a:p>
            <a:pPr algn="l" indent="0" marL="0">
              <a:lnSpc>
                <a:spcPts val="1350"/>
              </a:lnSpc>
              <a:buNone/>
            </a:pPr>
            <a:r>
              <a:rPr lang="en-US" sz="1100" dirty="0">
                <a:solidFill>
                  <a:srgbClr val="124E73"/>
                </a:solidFill>
                <a:latin typeface="MuseoModerno Medium" pitchFamily="34" charset="0"/>
                <a:ea typeface="MuseoModerno Medium" pitchFamily="34" charset="-122"/>
                <a:cs typeface="MuseoModerno Medium" pitchFamily="34" charset="-120"/>
              </a:rPr>
              <a:t>Coverage Results</a:t>
            </a:r>
            <a:endParaRPr lang="en-US" sz="1100" dirty="0"/>
          </a:p>
        </p:txBody>
      </p:sp>
      <p:pic>
        <p:nvPicPr>
          <p:cNvPr id="5" name="Image 0" descr="preencoded.png">    </p:cNvPr>
          <p:cNvPicPr>
            <a:picLocks noChangeAspect="1"/>
          </p:cNvPicPr>
          <p:nvPr/>
        </p:nvPicPr>
        <p:blipFill>
          <a:blip r:embed="rId1"/>
          <a:stretch>
            <a:fillRect/>
          </a:stretch>
        </p:blipFill>
        <p:spPr>
          <a:xfrm>
            <a:off x="396835" y="1544717"/>
            <a:ext cx="5833705" cy="2530435"/>
          </a:xfrm>
          <a:prstGeom prst="rect">
            <a:avLst/>
          </a:prstGeom>
        </p:spPr>
      </p:pic>
      <p:sp>
        <p:nvSpPr>
          <p:cNvPr id="6" name="Text 3"/>
          <p:cNvSpPr/>
          <p:nvPr/>
        </p:nvSpPr>
        <p:spPr>
          <a:xfrm>
            <a:off x="396835" y="4202668"/>
            <a:ext cx="6780014" cy="181451"/>
          </a:xfrm>
          <a:prstGeom prst="rect">
            <a:avLst/>
          </a:prstGeom>
          <a:noFill/>
          <a:ln/>
        </p:spPr>
        <p:txBody>
          <a:bodyPr wrap="none" lIns="0" tIns="0" rIns="0" bIns="0" rtlCol="0" anchor="t"/>
          <a:lstStyle/>
          <a:p>
            <a:pPr algn="l" indent="0" marL="0">
              <a:lnSpc>
                <a:spcPts val="1400"/>
              </a:lnSpc>
              <a:buNone/>
            </a:pPr>
            <a:endParaRPr lang="en-US" sz="850" dirty="0"/>
          </a:p>
        </p:txBody>
      </p:sp>
      <p:pic>
        <p:nvPicPr>
          <p:cNvPr id="7" name="Image 1" descr="preencoded.png">    </p:cNvPr>
          <p:cNvPicPr>
            <a:picLocks noChangeAspect="1"/>
          </p:cNvPicPr>
          <p:nvPr/>
        </p:nvPicPr>
        <p:blipFill>
          <a:blip r:embed="rId2"/>
          <a:stretch>
            <a:fillRect/>
          </a:stretch>
        </p:blipFill>
        <p:spPr>
          <a:xfrm>
            <a:off x="396835" y="4511635"/>
            <a:ext cx="6780014" cy="1813560"/>
          </a:xfrm>
          <a:prstGeom prst="rect">
            <a:avLst/>
          </a:prstGeom>
        </p:spPr>
      </p:pic>
      <p:sp>
        <p:nvSpPr>
          <p:cNvPr id="8" name="Text 4"/>
          <p:cNvSpPr/>
          <p:nvPr/>
        </p:nvSpPr>
        <p:spPr>
          <a:xfrm>
            <a:off x="396835" y="6452711"/>
            <a:ext cx="6780014" cy="181451"/>
          </a:xfrm>
          <a:prstGeom prst="rect">
            <a:avLst/>
          </a:prstGeom>
          <a:noFill/>
          <a:ln/>
        </p:spPr>
        <p:txBody>
          <a:bodyPr wrap="none" lIns="0" tIns="0" rIns="0" bIns="0" rtlCol="0" anchor="t"/>
          <a:lstStyle/>
          <a:p>
            <a:pPr algn="l" indent="0" marL="0">
              <a:lnSpc>
                <a:spcPts val="1400"/>
              </a:lnSpc>
              <a:buNone/>
            </a:pPr>
            <a:endParaRPr lang="en-US" sz="850" dirty="0"/>
          </a:p>
        </p:txBody>
      </p:sp>
      <p:sp>
        <p:nvSpPr>
          <p:cNvPr id="9" name="Text 5"/>
          <p:cNvSpPr/>
          <p:nvPr/>
        </p:nvSpPr>
        <p:spPr>
          <a:xfrm>
            <a:off x="7461171" y="938213"/>
            <a:ext cx="6780014" cy="181451"/>
          </a:xfrm>
          <a:prstGeom prst="rect">
            <a:avLst/>
          </a:prstGeom>
          <a:noFill/>
          <a:ln/>
        </p:spPr>
        <p:txBody>
          <a:bodyPr wrap="none" lIns="0" tIns="0" rIns="0" bIns="0" rtlCol="0" anchor="t"/>
          <a:lstStyle/>
          <a:p>
            <a:pPr algn="l" indent="0" marL="0">
              <a:lnSpc>
                <a:spcPts val="1400"/>
              </a:lnSpc>
              <a:buNone/>
            </a:pPr>
            <a:r>
              <a:rPr lang="en-US" sz="850" b="1" dirty="0">
                <a:solidFill>
                  <a:srgbClr val="2B4150"/>
                </a:solidFill>
                <a:latin typeface="Source Sans Pro" pitchFamily="34" charset="0"/>
                <a:ea typeface="Source Sans Pro" pitchFamily="34" charset="-122"/>
                <a:cs typeface="Source Sans Pro" pitchFamily="34" charset="-120"/>
              </a:rPr>
              <a:t>Ceate a Listing - Blackbox</a:t>
            </a:r>
            <a:endParaRPr lang="en-US" sz="850" dirty="0"/>
          </a:p>
        </p:txBody>
      </p:sp>
      <p:sp>
        <p:nvSpPr>
          <p:cNvPr id="10" name="Shape 6"/>
          <p:cNvSpPr/>
          <p:nvPr/>
        </p:nvSpPr>
        <p:spPr>
          <a:xfrm>
            <a:off x="7461171" y="1247180"/>
            <a:ext cx="6780014" cy="2343864"/>
          </a:xfrm>
          <a:prstGeom prst="roundRect">
            <a:avLst>
              <a:gd name="adj" fmla="val 726"/>
            </a:avLst>
          </a:prstGeom>
          <a:noFill/>
          <a:ln w="7620">
            <a:solidFill>
              <a:srgbClr val="000000">
                <a:alpha val="8000"/>
              </a:srgbClr>
            </a:solidFill>
            <a:prstDash val="solid"/>
          </a:ln>
        </p:spPr>
      </p:sp>
      <p:sp>
        <p:nvSpPr>
          <p:cNvPr id="11" name="Shape 7"/>
          <p:cNvSpPr/>
          <p:nvPr/>
        </p:nvSpPr>
        <p:spPr>
          <a:xfrm>
            <a:off x="7468791" y="1254800"/>
            <a:ext cx="6764774" cy="332661"/>
          </a:xfrm>
          <a:prstGeom prst="rect">
            <a:avLst/>
          </a:prstGeom>
          <a:solidFill>
            <a:srgbClr val="FFFFFF">
              <a:alpha val="4000"/>
            </a:srgbClr>
          </a:solidFill>
          <a:ln/>
        </p:spPr>
      </p:sp>
      <p:sp>
        <p:nvSpPr>
          <p:cNvPr id="12" name="Text 8"/>
          <p:cNvSpPr/>
          <p:nvPr/>
        </p:nvSpPr>
        <p:spPr>
          <a:xfrm>
            <a:off x="7582257" y="1330404"/>
            <a:ext cx="3151823" cy="181451"/>
          </a:xfrm>
          <a:prstGeom prst="rect">
            <a:avLst/>
          </a:prstGeom>
          <a:noFill/>
          <a:ln/>
        </p:spPr>
        <p:txBody>
          <a:bodyPr wrap="none" lIns="0" tIns="0" rIns="0" bIns="0" rtlCol="0" anchor="t"/>
          <a:lstStyle/>
          <a:p>
            <a:pPr algn="ctr" indent="0" marL="0">
              <a:lnSpc>
                <a:spcPts val="1400"/>
              </a:lnSpc>
              <a:buNone/>
            </a:pPr>
            <a:r>
              <a:rPr lang="en-US" sz="850" b="1" dirty="0">
                <a:solidFill>
                  <a:srgbClr val="2B4150"/>
                </a:solidFill>
                <a:latin typeface="Source Sans Pro" pitchFamily="34" charset="0"/>
                <a:ea typeface="Source Sans Pro" pitchFamily="34" charset="-122"/>
                <a:cs typeface="Source Sans Pro" pitchFamily="34" charset="-120"/>
              </a:rPr>
              <a:t>Input Field</a:t>
            </a:r>
            <a:endParaRPr lang="en-US" sz="850" dirty="0"/>
          </a:p>
        </p:txBody>
      </p:sp>
      <p:sp>
        <p:nvSpPr>
          <p:cNvPr id="13" name="Text 9"/>
          <p:cNvSpPr/>
          <p:nvPr/>
        </p:nvSpPr>
        <p:spPr>
          <a:xfrm>
            <a:off x="10968395" y="1330404"/>
            <a:ext cx="3151823" cy="181451"/>
          </a:xfrm>
          <a:prstGeom prst="rect">
            <a:avLst/>
          </a:prstGeom>
          <a:noFill/>
          <a:ln/>
        </p:spPr>
        <p:txBody>
          <a:bodyPr wrap="none" lIns="0" tIns="0" rIns="0" bIns="0" rtlCol="0" anchor="t"/>
          <a:lstStyle/>
          <a:p>
            <a:pPr algn="ctr" indent="0" marL="0">
              <a:lnSpc>
                <a:spcPts val="1400"/>
              </a:lnSpc>
              <a:buNone/>
            </a:pPr>
            <a:r>
              <a:rPr lang="en-US" sz="850" b="1" dirty="0">
                <a:solidFill>
                  <a:srgbClr val="2B4150"/>
                </a:solidFill>
                <a:latin typeface="Source Sans Pro" pitchFamily="34" charset="0"/>
                <a:ea typeface="Source Sans Pro" pitchFamily="34" charset="-122"/>
                <a:cs typeface="Source Sans Pro" pitchFamily="34" charset="-120"/>
              </a:rPr>
              <a:t>Boundary Values</a:t>
            </a:r>
            <a:endParaRPr lang="en-US" sz="850" dirty="0"/>
          </a:p>
        </p:txBody>
      </p:sp>
      <p:sp>
        <p:nvSpPr>
          <p:cNvPr id="14" name="Shape 10"/>
          <p:cNvSpPr/>
          <p:nvPr/>
        </p:nvSpPr>
        <p:spPr>
          <a:xfrm>
            <a:off x="7468791" y="1587460"/>
            <a:ext cx="6764774" cy="332661"/>
          </a:xfrm>
          <a:prstGeom prst="rect">
            <a:avLst/>
          </a:prstGeom>
          <a:solidFill>
            <a:srgbClr val="000000">
              <a:alpha val="4000"/>
            </a:srgbClr>
          </a:solidFill>
          <a:ln/>
        </p:spPr>
      </p:sp>
      <p:sp>
        <p:nvSpPr>
          <p:cNvPr id="15" name="Text 11"/>
          <p:cNvSpPr/>
          <p:nvPr/>
        </p:nvSpPr>
        <p:spPr>
          <a:xfrm>
            <a:off x="7582257" y="1663065"/>
            <a:ext cx="3151823" cy="181451"/>
          </a:xfrm>
          <a:prstGeom prst="rect">
            <a:avLst/>
          </a:prstGeom>
          <a:noFill/>
          <a:ln/>
        </p:spPr>
        <p:txBody>
          <a:bodyPr wrap="none" lIns="0" tIns="0" rIns="0" bIns="0" rtlCol="0" anchor="t"/>
          <a:lstStyle/>
          <a:p>
            <a:pPr algn="l" indent="0" marL="0">
              <a:lnSpc>
                <a:spcPts val="1400"/>
              </a:lnSpc>
              <a:buNone/>
            </a:pPr>
            <a:r>
              <a:rPr lang="en-US" sz="850" dirty="0">
                <a:solidFill>
                  <a:srgbClr val="2B4150"/>
                </a:solidFill>
                <a:latin typeface="Source Sans Pro" pitchFamily="34" charset="0"/>
                <a:ea typeface="Source Sans Pro" pitchFamily="34" charset="-122"/>
                <a:cs typeface="Source Sans Pro" pitchFamily="34" charset="-120"/>
              </a:rPr>
              <a:t>title</a:t>
            </a:r>
            <a:endParaRPr lang="en-US" sz="850" dirty="0"/>
          </a:p>
        </p:txBody>
      </p:sp>
      <p:sp>
        <p:nvSpPr>
          <p:cNvPr id="16" name="Text 12"/>
          <p:cNvSpPr/>
          <p:nvPr/>
        </p:nvSpPr>
        <p:spPr>
          <a:xfrm>
            <a:off x="10968395" y="1663065"/>
            <a:ext cx="3151823" cy="181451"/>
          </a:xfrm>
          <a:prstGeom prst="rect">
            <a:avLst/>
          </a:prstGeom>
          <a:noFill/>
          <a:ln/>
        </p:spPr>
        <p:txBody>
          <a:bodyPr wrap="none" lIns="0" tIns="0" rIns="0" bIns="0" rtlCol="0" anchor="t"/>
          <a:lstStyle/>
          <a:p>
            <a:pPr algn="l" indent="0" marL="0">
              <a:lnSpc>
                <a:spcPts val="1400"/>
              </a:lnSpc>
              <a:buNone/>
            </a:pPr>
            <a:r>
              <a:rPr lang="en-US" sz="850" dirty="0">
                <a:solidFill>
                  <a:srgbClr val="2B4150"/>
                </a:solidFill>
                <a:latin typeface="Source Sans Pro" pitchFamily="34" charset="0"/>
                <a:ea typeface="Source Sans Pro" pitchFamily="34" charset="-122"/>
                <a:cs typeface="Source Sans Pro" pitchFamily="34" charset="-120"/>
              </a:rPr>
              <a:t>Minimum: 1 character, Maximum: 255 characters</a:t>
            </a:r>
            <a:endParaRPr lang="en-US" sz="850" dirty="0"/>
          </a:p>
        </p:txBody>
      </p:sp>
      <p:sp>
        <p:nvSpPr>
          <p:cNvPr id="17" name="Shape 13"/>
          <p:cNvSpPr/>
          <p:nvPr/>
        </p:nvSpPr>
        <p:spPr>
          <a:xfrm>
            <a:off x="7468791" y="1920121"/>
            <a:ext cx="6764774" cy="332661"/>
          </a:xfrm>
          <a:prstGeom prst="rect">
            <a:avLst/>
          </a:prstGeom>
          <a:solidFill>
            <a:srgbClr val="FFFFFF">
              <a:alpha val="4000"/>
            </a:srgbClr>
          </a:solidFill>
          <a:ln/>
        </p:spPr>
      </p:sp>
      <p:sp>
        <p:nvSpPr>
          <p:cNvPr id="18" name="Text 14"/>
          <p:cNvSpPr/>
          <p:nvPr/>
        </p:nvSpPr>
        <p:spPr>
          <a:xfrm>
            <a:off x="7582257" y="1995726"/>
            <a:ext cx="3151823" cy="181451"/>
          </a:xfrm>
          <a:prstGeom prst="rect">
            <a:avLst/>
          </a:prstGeom>
          <a:noFill/>
          <a:ln/>
        </p:spPr>
        <p:txBody>
          <a:bodyPr wrap="none" lIns="0" tIns="0" rIns="0" bIns="0" rtlCol="0" anchor="t"/>
          <a:lstStyle/>
          <a:p>
            <a:pPr algn="l" indent="0" marL="0">
              <a:lnSpc>
                <a:spcPts val="1400"/>
              </a:lnSpc>
              <a:buNone/>
            </a:pPr>
            <a:r>
              <a:rPr lang="en-US" sz="850" dirty="0">
                <a:solidFill>
                  <a:srgbClr val="2B4150"/>
                </a:solidFill>
                <a:latin typeface="Source Sans Pro" pitchFamily="34" charset="0"/>
                <a:ea typeface="Source Sans Pro" pitchFamily="34" charset="-122"/>
                <a:cs typeface="Source Sans Pro" pitchFamily="34" charset="-120"/>
              </a:rPr>
              <a:t>description</a:t>
            </a:r>
            <a:endParaRPr lang="en-US" sz="850" dirty="0"/>
          </a:p>
        </p:txBody>
      </p:sp>
      <p:sp>
        <p:nvSpPr>
          <p:cNvPr id="19" name="Text 15"/>
          <p:cNvSpPr/>
          <p:nvPr/>
        </p:nvSpPr>
        <p:spPr>
          <a:xfrm>
            <a:off x="10968395" y="1995726"/>
            <a:ext cx="3151823" cy="181451"/>
          </a:xfrm>
          <a:prstGeom prst="rect">
            <a:avLst/>
          </a:prstGeom>
          <a:noFill/>
          <a:ln/>
        </p:spPr>
        <p:txBody>
          <a:bodyPr wrap="none" lIns="0" tIns="0" rIns="0" bIns="0" rtlCol="0" anchor="t"/>
          <a:lstStyle/>
          <a:p>
            <a:pPr algn="l" indent="0" marL="0">
              <a:lnSpc>
                <a:spcPts val="1400"/>
              </a:lnSpc>
              <a:buNone/>
            </a:pPr>
            <a:r>
              <a:rPr lang="en-US" sz="850" dirty="0">
                <a:solidFill>
                  <a:srgbClr val="2B4150"/>
                </a:solidFill>
                <a:latin typeface="Source Sans Pro" pitchFamily="34" charset="0"/>
                <a:ea typeface="Source Sans Pro" pitchFamily="34" charset="-122"/>
                <a:cs typeface="Source Sans Pro" pitchFamily="34" charset="-120"/>
              </a:rPr>
              <a:t>Minimum: 1 character, Maximum: 1000 characters</a:t>
            </a:r>
            <a:endParaRPr lang="en-US" sz="850" dirty="0"/>
          </a:p>
        </p:txBody>
      </p:sp>
      <p:sp>
        <p:nvSpPr>
          <p:cNvPr id="20" name="Shape 16"/>
          <p:cNvSpPr/>
          <p:nvPr/>
        </p:nvSpPr>
        <p:spPr>
          <a:xfrm>
            <a:off x="7468791" y="2252782"/>
            <a:ext cx="6764774" cy="332661"/>
          </a:xfrm>
          <a:prstGeom prst="rect">
            <a:avLst/>
          </a:prstGeom>
          <a:solidFill>
            <a:srgbClr val="000000">
              <a:alpha val="4000"/>
            </a:srgbClr>
          </a:solidFill>
          <a:ln/>
        </p:spPr>
      </p:sp>
      <p:sp>
        <p:nvSpPr>
          <p:cNvPr id="21" name="Text 17"/>
          <p:cNvSpPr/>
          <p:nvPr/>
        </p:nvSpPr>
        <p:spPr>
          <a:xfrm>
            <a:off x="7582257" y="2328386"/>
            <a:ext cx="3151823" cy="181451"/>
          </a:xfrm>
          <a:prstGeom prst="rect">
            <a:avLst/>
          </a:prstGeom>
          <a:noFill/>
          <a:ln/>
        </p:spPr>
        <p:txBody>
          <a:bodyPr wrap="none" lIns="0" tIns="0" rIns="0" bIns="0" rtlCol="0" anchor="t"/>
          <a:lstStyle/>
          <a:p>
            <a:pPr algn="l" indent="0" marL="0">
              <a:lnSpc>
                <a:spcPts val="1400"/>
              </a:lnSpc>
              <a:buNone/>
            </a:pPr>
            <a:r>
              <a:rPr lang="en-US" sz="850" dirty="0">
                <a:solidFill>
                  <a:srgbClr val="2B4150"/>
                </a:solidFill>
                <a:latin typeface="Source Sans Pro" pitchFamily="34" charset="0"/>
                <a:ea typeface="Source Sans Pro" pitchFamily="34" charset="-122"/>
                <a:cs typeface="Source Sans Pro" pitchFamily="34" charset="-120"/>
              </a:rPr>
              <a:t>price</a:t>
            </a:r>
            <a:endParaRPr lang="en-US" sz="850" dirty="0"/>
          </a:p>
        </p:txBody>
      </p:sp>
      <p:sp>
        <p:nvSpPr>
          <p:cNvPr id="22" name="Text 18"/>
          <p:cNvSpPr/>
          <p:nvPr/>
        </p:nvSpPr>
        <p:spPr>
          <a:xfrm>
            <a:off x="10968395" y="2328386"/>
            <a:ext cx="3151823" cy="181451"/>
          </a:xfrm>
          <a:prstGeom prst="rect">
            <a:avLst/>
          </a:prstGeom>
          <a:noFill/>
          <a:ln/>
        </p:spPr>
        <p:txBody>
          <a:bodyPr wrap="none" lIns="0" tIns="0" rIns="0" bIns="0" rtlCol="0" anchor="t"/>
          <a:lstStyle/>
          <a:p>
            <a:pPr algn="l" indent="0" marL="0">
              <a:lnSpc>
                <a:spcPts val="1400"/>
              </a:lnSpc>
              <a:buNone/>
            </a:pPr>
            <a:r>
              <a:rPr lang="en-US" sz="850" dirty="0">
                <a:solidFill>
                  <a:srgbClr val="2B4150"/>
                </a:solidFill>
                <a:latin typeface="Source Sans Pro" pitchFamily="34" charset="0"/>
                <a:ea typeface="Source Sans Pro" pitchFamily="34" charset="-122"/>
                <a:cs typeface="Source Sans Pro" pitchFamily="34" charset="-120"/>
              </a:rPr>
              <a:t>Minimum: 1, Maximum: 1,000,000</a:t>
            </a:r>
            <a:endParaRPr lang="en-US" sz="850" dirty="0"/>
          </a:p>
        </p:txBody>
      </p:sp>
      <p:sp>
        <p:nvSpPr>
          <p:cNvPr id="23" name="Shape 19"/>
          <p:cNvSpPr/>
          <p:nvPr/>
        </p:nvSpPr>
        <p:spPr>
          <a:xfrm>
            <a:off x="7468791" y="2585442"/>
            <a:ext cx="6764774" cy="332661"/>
          </a:xfrm>
          <a:prstGeom prst="rect">
            <a:avLst/>
          </a:prstGeom>
          <a:solidFill>
            <a:srgbClr val="FFFFFF">
              <a:alpha val="4000"/>
            </a:srgbClr>
          </a:solidFill>
          <a:ln/>
        </p:spPr>
      </p:sp>
      <p:sp>
        <p:nvSpPr>
          <p:cNvPr id="24" name="Text 20"/>
          <p:cNvSpPr/>
          <p:nvPr/>
        </p:nvSpPr>
        <p:spPr>
          <a:xfrm>
            <a:off x="7582257" y="2661047"/>
            <a:ext cx="3151823" cy="181451"/>
          </a:xfrm>
          <a:prstGeom prst="rect">
            <a:avLst/>
          </a:prstGeom>
          <a:noFill/>
          <a:ln/>
        </p:spPr>
        <p:txBody>
          <a:bodyPr wrap="none" lIns="0" tIns="0" rIns="0" bIns="0" rtlCol="0" anchor="t"/>
          <a:lstStyle/>
          <a:p>
            <a:pPr algn="l" indent="0" marL="0">
              <a:lnSpc>
                <a:spcPts val="1400"/>
              </a:lnSpc>
              <a:buNone/>
            </a:pPr>
            <a:r>
              <a:rPr lang="en-US" sz="850" dirty="0">
                <a:solidFill>
                  <a:srgbClr val="2B4150"/>
                </a:solidFill>
                <a:latin typeface="Source Sans Pro" pitchFamily="34" charset="0"/>
                <a:ea typeface="Source Sans Pro" pitchFamily="34" charset="-122"/>
                <a:cs typeface="Source Sans Pro" pitchFamily="34" charset="-120"/>
              </a:rPr>
              <a:t>bedrooms</a:t>
            </a:r>
            <a:endParaRPr lang="en-US" sz="850" dirty="0"/>
          </a:p>
        </p:txBody>
      </p:sp>
      <p:sp>
        <p:nvSpPr>
          <p:cNvPr id="25" name="Text 21"/>
          <p:cNvSpPr/>
          <p:nvPr/>
        </p:nvSpPr>
        <p:spPr>
          <a:xfrm>
            <a:off x="10968395" y="2661047"/>
            <a:ext cx="3151823" cy="181451"/>
          </a:xfrm>
          <a:prstGeom prst="rect">
            <a:avLst/>
          </a:prstGeom>
          <a:noFill/>
          <a:ln/>
        </p:spPr>
        <p:txBody>
          <a:bodyPr wrap="none" lIns="0" tIns="0" rIns="0" bIns="0" rtlCol="0" anchor="t"/>
          <a:lstStyle/>
          <a:p>
            <a:pPr algn="l" indent="0" marL="0">
              <a:lnSpc>
                <a:spcPts val="1400"/>
              </a:lnSpc>
              <a:buNone/>
            </a:pPr>
            <a:r>
              <a:rPr lang="en-US" sz="850" dirty="0">
                <a:solidFill>
                  <a:srgbClr val="2B4150"/>
                </a:solidFill>
                <a:latin typeface="Source Sans Pro" pitchFamily="34" charset="0"/>
                <a:ea typeface="Source Sans Pro" pitchFamily="34" charset="-122"/>
                <a:cs typeface="Source Sans Pro" pitchFamily="34" charset="-120"/>
              </a:rPr>
              <a:t>Minimum: 1, Maximum: 50</a:t>
            </a:r>
            <a:endParaRPr lang="en-US" sz="850" dirty="0"/>
          </a:p>
        </p:txBody>
      </p:sp>
      <p:sp>
        <p:nvSpPr>
          <p:cNvPr id="26" name="Shape 22"/>
          <p:cNvSpPr/>
          <p:nvPr/>
        </p:nvSpPr>
        <p:spPr>
          <a:xfrm>
            <a:off x="7468791" y="2918103"/>
            <a:ext cx="6764774" cy="332661"/>
          </a:xfrm>
          <a:prstGeom prst="rect">
            <a:avLst/>
          </a:prstGeom>
          <a:solidFill>
            <a:srgbClr val="000000">
              <a:alpha val="4000"/>
            </a:srgbClr>
          </a:solidFill>
          <a:ln/>
        </p:spPr>
      </p:sp>
      <p:sp>
        <p:nvSpPr>
          <p:cNvPr id="27" name="Text 23"/>
          <p:cNvSpPr/>
          <p:nvPr/>
        </p:nvSpPr>
        <p:spPr>
          <a:xfrm>
            <a:off x="7582257" y="2993708"/>
            <a:ext cx="3151823" cy="181451"/>
          </a:xfrm>
          <a:prstGeom prst="rect">
            <a:avLst/>
          </a:prstGeom>
          <a:noFill/>
          <a:ln/>
        </p:spPr>
        <p:txBody>
          <a:bodyPr wrap="none" lIns="0" tIns="0" rIns="0" bIns="0" rtlCol="0" anchor="t"/>
          <a:lstStyle/>
          <a:p>
            <a:pPr algn="l" indent="0" marL="0">
              <a:lnSpc>
                <a:spcPts val="1400"/>
              </a:lnSpc>
              <a:buNone/>
            </a:pPr>
            <a:r>
              <a:rPr lang="en-US" sz="850" dirty="0">
                <a:solidFill>
                  <a:srgbClr val="2B4150"/>
                </a:solidFill>
                <a:latin typeface="Source Sans Pro" pitchFamily="34" charset="0"/>
                <a:ea typeface="Source Sans Pro" pitchFamily="34" charset="-122"/>
                <a:cs typeface="Source Sans Pro" pitchFamily="34" charset="-120"/>
              </a:rPr>
              <a:t>bathrooms</a:t>
            </a:r>
            <a:endParaRPr lang="en-US" sz="850" dirty="0"/>
          </a:p>
        </p:txBody>
      </p:sp>
      <p:sp>
        <p:nvSpPr>
          <p:cNvPr id="28" name="Text 24"/>
          <p:cNvSpPr/>
          <p:nvPr/>
        </p:nvSpPr>
        <p:spPr>
          <a:xfrm>
            <a:off x="10968395" y="2993708"/>
            <a:ext cx="3151823" cy="181451"/>
          </a:xfrm>
          <a:prstGeom prst="rect">
            <a:avLst/>
          </a:prstGeom>
          <a:noFill/>
          <a:ln/>
        </p:spPr>
        <p:txBody>
          <a:bodyPr wrap="none" lIns="0" tIns="0" rIns="0" bIns="0" rtlCol="0" anchor="t"/>
          <a:lstStyle/>
          <a:p>
            <a:pPr algn="l" indent="0" marL="0">
              <a:lnSpc>
                <a:spcPts val="1400"/>
              </a:lnSpc>
              <a:buNone/>
            </a:pPr>
            <a:r>
              <a:rPr lang="en-US" sz="850" dirty="0">
                <a:solidFill>
                  <a:srgbClr val="2B4150"/>
                </a:solidFill>
                <a:latin typeface="Source Sans Pro" pitchFamily="34" charset="0"/>
                <a:ea typeface="Source Sans Pro" pitchFamily="34" charset="-122"/>
                <a:cs typeface="Source Sans Pro" pitchFamily="34" charset="-120"/>
              </a:rPr>
              <a:t>Minimum: 1, Maximum: 50</a:t>
            </a:r>
            <a:endParaRPr lang="en-US" sz="850" dirty="0"/>
          </a:p>
        </p:txBody>
      </p:sp>
      <p:sp>
        <p:nvSpPr>
          <p:cNvPr id="29" name="Shape 25"/>
          <p:cNvSpPr/>
          <p:nvPr/>
        </p:nvSpPr>
        <p:spPr>
          <a:xfrm>
            <a:off x="7468791" y="3250763"/>
            <a:ext cx="6764774" cy="332661"/>
          </a:xfrm>
          <a:prstGeom prst="rect">
            <a:avLst/>
          </a:prstGeom>
          <a:solidFill>
            <a:srgbClr val="FFFFFF">
              <a:alpha val="4000"/>
            </a:srgbClr>
          </a:solidFill>
          <a:ln/>
        </p:spPr>
      </p:sp>
      <p:sp>
        <p:nvSpPr>
          <p:cNvPr id="30" name="Text 26"/>
          <p:cNvSpPr/>
          <p:nvPr/>
        </p:nvSpPr>
        <p:spPr>
          <a:xfrm>
            <a:off x="7582257" y="3326368"/>
            <a:ext cx="3151823" cy="181451"/>
          </a:xfrm>
          <a:prstGeom prst="rect">
            <a:avLst/>
          </a:prstGeom>
          <a:noFill/>
          <a:ln/>
        </p:spPr>
        <p:txBody>
          <a:bodyPr wrap="none" lIns="0" tIns="0" rIns="0" bIns="0" rtlCol="0" anchor="t"/>
          <a:lstStyle/>
          <a:p>
            <a:pPr algn="l" indent="0" marL="0">
              <a:lnSpc>
                <a:spcPts val="1400"/>
              </a:lnSpc>
              <a:buNone/>
            </a:pPr>
            <a:r>
              <a:rPr lang="en-US" sz="850" dirty="0">
                <a:solidFill>
                  <a:srgbClr val="2B4150"/>
                </a:solidFill>
                <a:latin typeface="Source Sans Pro" pitchFamily="34" charset="0"/>
                <a:ea typeface="Source Sans Pro" pitchFamily="34" charset="-122"/>
                <a:cs typeface="Source Sans Pro" pitchFamily="34" charset="-120"/>
              </a:rPr>
              <a:t>maxGuests</a:t>
            </a:r>
            <a:endParaRPr lang="en-US" sz="850" dirty="0"/>
          </a:p>
        </p:txBody>
      </p:sp>
      <p:sp>
        <p:nvSpPr>
          <p:cNvPr id="31" name="Text 27"/>
          <p:cNvSpPr/>
          <p:nvPr/>
        </p:nvSpPr>
        <p:spPr>
          <a:xfrm>
            <a:off x="10968395" y="3326368"/>
            <a:ext cx="3151823" cy="181451"/>
          </a:xfrm>
          <a:prstGeom prst="rect">
            <a:avLst/>
          </a:prstGeom>
          <a:noFill/>
          <a:ln/>
        </p:spPr>
        <p:txBody>
          <a:bodyPr wrap="none" lIns="0" tIns="0" rIns="0" bIns="0" rtlCol="0" anchor="t"/>
          <a:lstStyle/>
          <a:p>
            <a:pPr algn="l" indent="0" marL="0">
              <a:lnSpc>
                <a:spcPts val="1400"/>
              </a:lnSpc>
              <a:buNone/>
            </a:pPr>
            <a:r>
              <a:rPr lang="en-US" sz="850" dirty="0">
                <a:solidFill>
                  <a:srgbClr val="2B4150"/>
                </a:solidFill>
                <a:latin typeface="Source Sans Pro" pitchFamily="34" charset="0"/>
                <a:ea typeface="Source Sans Pro" pitchFamily="34" charset="-122"/>
                <a:cs typeface="Source Sans Pro" pitchFamily="34" charset="-120"/>
              </a:rPr>
              <a:t>Minimum: 1, Maximum: 100</a:t>
            </a:r>
            <a:endParaRPr lang="en-US" sz="850" dirty="0"/>
          </a:p>
        </p:txBody>
      </p:sp>
      <p:pic>
        <p:nvPicPr>
          <p:cNvPr id="32" name="Image 2" descr="preencoded.png">    </p:cNvPr>
          <p:cNvPicPr>
            <a:picLocks noChangeAspect="1"/>
          </p:cNvPicPr>
          <p:nvPr/>
        </p:nvPicPr>
        <p:blipFill>
          <a:blip r:embed="rId3"/>
          <a:stretch>
            <a:fillRect/>
          </a:stretch>
        </p:blipFill>
        <p:spPr>
          <a:xfrm>
            <a:off x="396835" y="6863715"/>
            <a:ext cx="566976" cy="680442"/>
          </a:xfrm>
          <a:prstGeom prst="rect">
            <a:avLst/>
          </a:prstGeom>
        </p:spPr>
      </p:pic>
      <p:sp>
        <p:nvSpPr>
          <p:cNvPr id="33" name="Text 28"/>
          <p:cNvSpPr/>
          <p:nvPr/>
        </p:nvSpPr>
        <p:spPr>
          <a:xfrm>
            <a:off x="1133832" y="6977063"/>
            <a:ext cx="1417558" cy="177165"/>
          </a:xfrm>
          <a:prstGeom prst="rect">
            <a:avLst/>
          </a:prstGeom>
          <a:noFill/>
          <a:ln/>
        </p:spPr>
        <p:txBody>
          <a:bodyPr wrap="none" lIns="0" tIns="0" rIns="0" bIns="0" rtlCol="0" anchor="t"/>
          <a:lstStyle/>
          <a:p>
            <a:pPr algn="l" indent="0" marL="0">
              <a:lnSpc>
                <a:spcPts val="1350"/>
              </a:lnSpc>
              <a:buNone/>
            </a:pPr>
            <a:r>
              <a:rPr lang="en-US" sz="1100" dirty="0">
                <a:solidFill>
                  <a:srgbClr val="2B4150"/>
                </a:solidFill>
                <a:latin typeface="MuseoModerno Medium" pitchFamily="34" charset="0"/>
                <a:ea typeface="MuseoModerno Medium" pitchFamily="34" charset="-122"/>
                <a:cs typeface="MuseoModerno Medium" pitchFamily="34" charset="-120"/>
              </a:rPr>
              <a:t>Black Box Testing</a:t>
            </a:r>
            <a:endParaRPr lang="en-US" sz="1100" dirty="0"/>
          </a:p>
        </p:txBody>
      </p:sp>
      <p:sp>
        <p:nvSpPr>
          <p:cNvPr id="34" name="Text 29"/>
          <p:cNvSpPr/>
          <p:nvPr/>
        </p:nvSpPr>
        <p:spPr>
          <a:xfrm>
            <a:off x="1133832" y="7222212"/>
            <a:ext cx="13099733" cy="181451"/>
          </a:xfrm>
          <a:prstGeom prst="rect">
            <a:avLst/>
          </a:prstGeom>
          <a:noFill/>
          <a:ln/>
        </p:spPr>
        <p:txBody>
          <a:bodyPr wrap="none" lIns="0" tIns="0" rIns="0" bIns="0" rtlCol="0" anchor="t"/>
          <a:lstStyle/>
          <a:p>
            <a:pPr algn="l" indent="0" marL="0">
              <a:lnSpc>
                <a:spcPts val="1400"/>
              </a:lnSpc>
              <a:buNone/>
            </a:pPr>
            <a:r>
              <a:rPr lang="en-US" sz="850" dirty="0">
                <a:solidFill>
                  <a:srgbClr val="2B4150"/>
                </a:solidFill>
                <a:latin typeface="Source Sans Pro" pitchFamily="34" charset="0"/>
                <a:ea typeface="Source Sans Pro" pitchFamily="34" charset="-122"/>
                <a:cs typeface="Source Sans Pro" pitchFamily="34" charset="-120"/>
              </a:rPr>
              <a:t>Employed Equivalence Class Partitioning for user registration and Boundary Value Analysis for property listings to ensure robust input validation.</a:t>
            </a:r>
            <a:endParaRPr lang="en-US" sz="850" dirty="0"/>
          </a:p>
        </p:txBody>
      </p:sp>
      <p:pic>
        <p:nvPicPr>
          <p:cNvPr id="35" name="Image 3" descr="preencoded.png">    </p:cNvPr>
          <p:cNvPicPr>
            <a:picLocks noChangeAspect="1"/>
          </p:cNvPicPr>
          <p:nvPr/>
        </p:nvPicPr>
        <p:blipFill>
          <a:blip r:embed="rId4"/>
          <a:stretch>
            <a:fillRect/>
          </a:stretch>
        </p:blipFill>
        <p:spPr>
          <a:xfrm>
            <a:off x="396835" y="7544157"/>
            <a:ext cx="566976" cy="680442"/>
          </a:xfrm>
          <a:prstGeom prst="rect">
            <a:avLst/>
          </a:prstGeom>
        </p:spPr>
      </p:pic>
      <p:sp>
        <p:nvSpPr>
          <p:cNvPr id="36" name="Text 30"/>
          <p:cNvSpPr/>
          <p:nvPr/>
        </p:nvSpPr>
        <p:spPr>
          <a:xfrm>
            <a:off x="1133832" y="7657505"/>
            <a:ext cx="1417558" cy="177165"/>
          </a:xfrm>
          <a:prstGeom prst="rect">
            <a:avLst/>
          </a:prstGeom>
          <a:noFill/>
          <a:ln/>
        </p:spPr>
        <p:txBody>
          <a:bodyPr wrap="none" lIns="0" tIns="0" rIns="0" bIns="0" rtlCol="0" anchor="t"/>
          <a:lstStyle/>
          <a:p>
            <a:pPr algn="l" indent="0" marL="0">
              <a:lnSpc>
                <a:spcPts val="1350"/>
              </a:lnSpc>
              <a:buNone/>
            </a:pPr>
            <a:r>
              <a:rPr lang="en-US" sz="1100" dirty="0">
                <a:solidFill>
                  <a:srgbClr val="2B4150"/>
                </a:solidFill>
                <a:latin typeface="MuseoModerno Medium" pitchFamily="34" charset="0"/>
                <a:ea typeface="MuseoModerno Medium" pitchFamily="34" charset="-122"/>
                <a:cs typeface="MuseoModerno Medium" pitchFamily="34" charset="-120"/>
              </a:rPr>
              <a:t>White Box Testing</a:t>
            </a:r>
            <a:endParaRPr lang="en-US" sz="1100" dirty="0"/>
          </a:p>
        </p:txBody>
      </p:sp>
      <p:sp>
        <p:nvSpPr>
          <p:cNvPr id="37" name="Text 31"/>
          <p:cNvSpPr/>
          <p:nvPr/>
        </p:nvSpPr>
        <p:spPr>
          <a:xfrm>
            <a:off x="1133832" y="7902654"/>
            <a:ext cx="13099733" cy="181451"/>
          </a:xfrm>
          <a:prstGeom prst="rect">
            <a:avLst/>
          </a:prstGeom>
          <a:noFill/>
          <a:ln/>
        </p:spPr>
        <p:txBody>
          <a:bodyPr wrap="none" lIns="0" tIns="0" rIns="0" bIns="0" rtlCol="0" anchor="t"/>
          <a:lstStyle/>
          <a:p>
            <a:pPr algn="l" indent="0" marL="0">
              <a:lnSpc>
                <a:spcPts val="1400"/>
              </a:lnSpc>
              <a:buNone/>
            </a:pPr>
            <a:r>
              <a:rPr lang="en-US" sz="850" dirty="0">
                <a:solidFill>
                  <a:srgbClr val="2B4150"/>
                </a:solidFill>
                <a:latin typeface="Source Sans Pro" pitchFamily="34" charset="0"/>
                <a:ea typeface="Source Sans Pro" pitchFamily="34" charset="-122"/>
                <a:cs typeface="Source Sans Pro" pitchFamily="34" charset="-120"/>
              </a:rPr>
              <a:t>Used JTEST for unit testing controllers, middleware, models, and utility functions to verify internal logic.</a:t>
            </a:r>
            <a:endParaRPr lang="en-US" sz="850" dirty="0"/>
          </a:p>
        </p:txBody>
      </p:sp>
      <p:pic>
        <p:nvPicPr>
          <p:cNvPr id="38" name="Image 4" descr="preencoded.png">    </p:cNvPr>
          <p:cNvPicPr>
            <a:picLocks noChangeAspect="1"/>
          </p:cNvPicPr>
          <p:nvPr/>
        </p:nvPicPr>
        <p:blipFill>
          <a:blip r:embed="rId5"/>
          <a:stretch>
            <a:fillRect/>
          </a:stretch>
        </p:blipFill>
        <p:spPr>
          <a:xfrm>
            <a:off x="396835" y="8224599"/>
            <a:ext cx="566976" cy="680442"/>
          </a:xfrm>
          <a:prstGeom prst="rect">
            <a:avLst/>
          </a:prstGeom>
        </p:spPr>
      </p:pic>
      <p:sp>
        <p:nvSpPr>
          <p:cNvPr id="39" name="Text 32"/>
          <p:cNvSpPr/>
          <p:nvPr/>
        </p:nvSpPr>
        <p:spPr>
          <a:xfrm>
            <a:off x="1133832" y="8337947"/>
            <a:ext cx="1417558" cy="177165"/>
          </a:xfrm>
          <a:prstGeom prst="rect">
            <a:avLst/>
          </a:prstGeom>
          <a:noFill/>
          <a:ln/>
        </p:spPr>
        <p:txBody>
          <a:bodyPr wrap="none" lIns="0" tIns="0" rIns="0" bIns="0" rtlCol="0" anchor="t"/>
          <a:lstStyle/>
          <a:p>
            <a:pPr algn="l" indent="0" marL="0">
              <a:lnSpc>
                <a:spcPts val="1350"/>
              </a:lnSpc>
              <a:buNone/>
            </a:pPr>
            <a:r>
              <a:rPr lang="en-US" sz="1100" dirty="0">
                <a:solidFill>
                  <a:srgbClr val="2B4150"/>
                </a:solidFill>
                <a:latin typeface="MuseoModerno Medium" pitchFamily="34" charset="0"/>
                <a:ea typeface="MuseoModerno Medium" pitchFamily="34" charset="-122"/>
                <a:cs typeface="MuseoModerno Medium" pitchFamily="34" charset="-120"/>
              </a:rPr>
              <a:t>Coverage Analysis</a:t>
            </a:r>
            <a:endParaRPr lang="en-US" sz="1100" dirty="0"/>
          </a:p>
        </p:txBody>
      </p:sp>
      <p:sp>
        <p:nvSpPr>
          <p:cNvPr id="40" name="Text 33"/>
          <p:cNvSpPr/>
          <p:nvPr/>
        </p:nvSpPr>
        <p:spPr>
          <a:xfrm>
            <a:off x="1133832" y="8583097"/>
            <a:ext cx="13099733" cy="181451"/>
          </a:xfrm>
          <a:prstGeom prst="rect">
            <a:avLst/>
          </a:prstGeom>
          <a:noFill/>
          <a:ln/>
        </p:spPr>
        <p:txBody>
          <a:bodyPr wrap="none" lIns="0" tIns="0" rIns="0" bIns="0" rtlCol="0" anchor="t"/>
          <a:lstStyle/>
          <a:p>
            <a:pPr algn="l" indent="0" marL="0">
              <a:lnSpc>
                <a:spcPts val="1400"/>
              </a:lnSpc>
              <a:buNone/>
            </a:pPr>
            <a:r>
              <a:rPr lang="en-US" sz="850" dirty="0">
                <a:solidFill>
                  <a:srgbClr val="2B4150"/>
                </a:solidFill>
                <a:latin typeface="Source Sans Pro" pitchFamily="34" charset="0"/>
                <a:ea typeface="Source Sans Pro" pitchFamily="34" charset="-122"/>
                <a:cs typeface="Source Sans Pro" pitchFamily="34" charset="-120"/>
              </a:rPr>
              <a:t>Achieved 75.48% statement coverage, 65.67% branch coverage, 93.75% function coverage, and 75.32% line coverage.</a:t>
            </a:r>
            <a:endParaRPr lang="en-US" sz="850" dirty="0"/>
          </a:p>
        </p:txBody>
      </p:sp>
      <p:pic>
        <p:nvPicPr>
          <p:cNvPr id="41" name="Image 5" descr="preencoded.png">    </p:cNvPr>
          <p:cNvPicPr>
            <a:picLocks noChangeAspect="1"/>
          </p:cNvPicPr>
          <p:nvPr/>
        </p:nvPicPr>
        <p:blipFill>
          <a:blip r:embed="rId6"/>
          <a:stretch>
            <a:fillRect/>
          </a:stretch>
        </p:blipFill>
        <p:spPr>
          <a:xfrm>
            <a:off x="396835" y="8905042"/>
            <a:ext cx="566976" cy="680442"/>
          </a:xfrm>
          <a:prstGeom prst="rect">
            <a:avLst/>
          </a:prstGeom>
        </p:spPr>
      </p:pic>
      <p:sp>
        <p:nvSpPr>
          <p:cNvPr id="42" name="Text 34"/>
          <p:cNvSpPr/>
          <p:nvPr/>
        </p:nvSpPr>
        <p:spPr>
          <a:xfrm>
            <a:off x="1133832" y="9018389"/>
            <a:ext cx="1417558" cy="177165"/>
          </a:xfrm>
          <a:prstGeom prst="rect">
            <a:avLst/>
          </a:prstGeom>
          <a:noFill/>
          <a:ln/>
        </p:spPr>
        <p:txBody>
          <a:bodyPr wrap="none" lIns="0" tIns="0" rIns="0" bIns="0" rtlCol="0" anchor="t"/>
          <a:lstStyle/>
          <a:p>
            <a:pPr algn="l" indent="0" marL="0">
              <a:lnSpc>
                <a:spcPts val="1350"/>
              </a:lnSpc>
              <a:buNone/>
            </a:pPr>
            <a:r>
              <a:rPr lang="en-US" sz="1100" dirty="0">
                <a:solidFill>
                  <a:srgbClr val="2B4150"/>
                </a:solidFill>
                <a:latin typeface="MuseoModerno Medium" pitchFamily="34" charset="0"/>
                <a:ea typeface="MuseoModerno Medium" pitchFamily="34" charset="-122"/>
                <a:cs typeface="MuseoModerno Medium" pitchFamily="34" charset="-120"/>
              </a:rPr>
              <a:t>Well-Covered Areas</a:t>
            </a:r>
            <a:endParaRPr lang="en-US" sz="1100" dirty="0"/>
          </a:p>
        </p:txBody>
      </p:sp>
      <p:sp>
        <p:nvSpPr>
          <p:cNvPr id="43" name="Text 35"/>
          <p:cNvSpPr/>
          <p:nvPr/>
        </p:nvSpPr>
        <p:spPr>
          <a:xfrm>
            <a:off x="1133832" y="9263539"/>
            <a:ext cx="13099733" cy="181451"/>
          </a:xfrm>
          <a:prstGeom prst="rect">
            <a:avLst/>
          </a:prstGeom>
          <a:noFill/>
          <a:ln/>
        </p:spPr>
        <p:txBody>
          <a:bodyPr wrap="none" lIns="0" tIns="0" rIns="0" bIns="0" rtlCol="0" anchor="t"/>
          <a:lstStyle/>
          <a:p>
            <a:pPr algn="l" indent="0" marL="0">
              <a:lnSpc>
                <a:spcPts val="1400"/>
              </a:lnSpc>
              <a:buNone/>
            </a:pPr>
            <a:r>
              <a:rPr lang="en-US" sz="850" dirty="0">
                <a:solidFill>
                  <a:srgbClr val="2B4150"/>
                </a:solidFill>
                <a:latin typeface="Source Sans Pro" pitchFamily="34" charset="0"/>
                <a:ea typeface="Source Sans Pro" pitchFamily="34" charset="-122"/>
                <a:cs typeface="Source Sans Pro" pitchFamily="34" charset="-120"/>
              </a:rPr>
              <a:t>User Model (100%), Authentication Middleware (88.46%), and Utility Functions (100%) received thorough testing.</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48628" y="352544"/>
            <a:ext cx="3800951" cy="400645"/>
          </a:xfrm>
          <a:prstGeom prst="rect">
            <a:avLst/>
          </a:prstGeom>
          <a:noFill/>
          <a:ln/>
        </p:spPr>
        <p:txBody>
          <a:bodyPr wrap="none" lIns="0" tIns="0" rIns="0" bIns="0" rtlCol="0" anchor="t"/>
          <a:lstStyle/>
          <a:p>
            <a:pPr algn="l" indent="0" marL="0">
              <a:lnSpc>
                <a:spcPts val="3150"/>
              </a:lnSpc>
              <a:buNone/>
            </a:pPr>
            <a:r>
              <a:rPr lang="en-US" sz="2500" dirty="0">
                <a:solidFill>
                  <a:srgbClr val="124E73"/>
                </a:solidFill>
                <a:latin typeface="MuseoModerno Medium" pitchFamily="34" charset="0"/>
                <a:ea typeface="MuseoModerno Medium" pitchFamily="34" charset="-122"/>
                <a:cs typeface="MuseoModerno Medium" pitchFamily="34" charset="-120"/>
              </a:rPr>
              <a:t>Implementation Results</a:t>
            </a:r>
            <a:endParaRPr lang="en-US" sz="2500" dirty="0"/>
          </a:p>
        </p:txBody>
      </p:sp>
      <p:pic>
        <p:nvPicPr>
          <p:cNvPr id="3" name="Image 0" descr="preencoded.png">    </p:cNvPr>
          <p:cNvPicPr>
            <a:picLocks noChangeAspect="1"/>
          </p:cNvPicPr>
          <p:nvPr/>
        </p:nvPicPr>
        <p:blipFill>
          <a:blip r:embed="rId1"/>
          <a:stretch>
            <a:fillRect/>
          </a:stretch>
        </p:blipFill>
        <p:spPr>
          <a:xfrm>
            <a:off x="456248" y="1095375"/>
            <a:ext cx="4467106" cy="1538407"/>
          </a:xfrm>
          <a:prstGeom prst="rect">
            <a:avLst/>
          </a:prstGeom>
        </p:spPr>
      </p:pic>
      <p:pic>
        <p:nvPicPr>
          <p:cNvPr id="4" name="Image 1" descr="preencoded.png">    </p:cNvPr>
          <p:cNvPicPr>
            <a:picLocks noChangeAspect="1"/>
          </p:cNvPicPr>
          <p:nvPr/>
        </p:nvPicPr>
        <p:blipFill>
          <a:blip r:embed="rId2"/>
          <a:stretch>
            <a:fillRect/>
          </a:stretch>
        </p:blipFill>
        <p:spPr>
          <a:xfrm>
            <a:off x="5025866" y="1095375"/>
            <a:ext cx="4590217" cy="1538407"/>
          </a:xfrm>
          <a:prstGeom prst="rect">
            <a:avLst/>
          </a:prstGeom>
        </p:spPr>
      </p:pic>
      <p:pic>
        <p:nvPicPr>
          <p:cNvPr id="5" name="Image 2" descr="preencoded.png">    </p:cNvPr>
          <p:cNvPicPr>
            <a:picLocks noChangeAspect="1"/>
          </p:cNvPicPr>
          <p:nvPr/>
        </p:nvPicPr>
        <p:blipFill>
          <a:blip r:embed="rId3"/>
          <a:stretch>
            <a:fillRect/>
          </a:stretch>
        </p:blipFill>
        <p:spPr>
          <a:xfrm>
            <a:off x="9718596" y="1095375"/>
            <a:ext cx="4455557" cy="1538407"/>
          </a:xfrm>
          <a:prstGeom prst="rect">
            <a:avLst/>
          </a:prstGeom>
        </p:spPr>
      </p:pic>
      <p:pic>
        <p:nvPicPr>
          <p:cNvPr id="6" name="Image 3" descr="preencoded.png">    </p:cNvPr>
          <p:cNvPicPr>
            <a:picLocks noChangeAspect="1"/>
          </p:cNvPicPr>
          <p:nvPr/>
        </p:nvPicPr>
        <p:blipFill>
          <a:blip r:embed="rId4"/>
          <a:stretch>
            <a:fillRect/>
          </a:stretch>
        </p:blipFill>
        <p:spPr>
          <a:xfrm>
            <a:off x="448628" y="2863810"/>
            <a:ext cx="10256520" cy="4463177"/>
          </a:xfrm>
          <a:prstGeom prst="rect">
            <a:avLst/>
          </a:prstGeom>
        </p:spPr>
      </p:pic>
      <p:sp>
        <p:nvSpPr>
          <p:cNvPr id="7" name="Text 1"/>
          <p:cNvSpPr/>
          <p:nvPr/>
        </p:nvSpPr>
        <p:spPr>
          <a:xfrm>
            <a:off x="448628" y="7471172"/>
            <a:ext cx="13733145" cy="410289"/>
          </a:xfrm>
          <a:prstGeom prst="rect">
            <a:avLst/>
          </a:prstGeom>
          <a:noFill/>
          <a:ln/>
        </p:spPr>
        <p:txBody>
          <a:bodyPr wrap="square" lIns="0" tIns="0" rIns="0" bIns="0" rtlCol="0" anchor="t"/>
          <a:lstStyle/>
          <a:p>
            <a:pPr algn="l" indent="0" marL="0">
              <a:lnSpc>
                <a:spcPts val="1600"/>
              </a:lnSpc>
              <a:buNone/>
            </a:pPr>
            <a:r>
              <a:rPr lang="en-US" sz="1000" dirty="0">
                <a:solidFill>
                  <a:srgbClr val="2B4150"/>
                </a:solidFill>
                <a:latin typeface="Source Sans Pro" pitchFamily="34" charset="0"/>
                <a:ea typeface="Source Sans Pro" pitchFamily="34" charset="-122"/>
                <a:cs typeface="Source Sans Pro" pitchFamily="34" charset="-120"/>
              </a:rPr>
              <a:t>The team successfully implemented all planned features with a clean, intuitive interface. Muhammad Rafay focused on backend development and documentation, Maaz Khan handled frontend development and UI/UX design, while Arham Khalid worked on backend development, testing, and served as Scrum Master.</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1333619"/>
            <a:ext cx="11213663" cy="708779"/>
          </a:xfrm>
          <a:prstGeom prst="rect">
            <a:avLst/>
          </a:prstGeom>
          <a:noFill/>
          <a:ln/>
        </p:spPr>
        <p:txBody>
          <a:bodyPr wrap="none" lIns="0" tIns="0" rIns="0" bIns="0" rtlCol="0" anchor="t"/>
          <a:lstStyle/>
          <a:p>
            <a:pPr algn="l" indent="0" marL="0">
              <a:lnSpc>
                <a:spcPts val="5550"/>
              </a:lnSpc>
              <a:buNone/>
            </a:pPr>
            <a:r>
              <a:rPr lang="en-US" sz="4450" dirty="0">
                <a:solidFill>
                  <a:srgbClr val="124E73"/>
                </a:solidFill>
                <a:latin typeface="MuseoModerno Medium" pitchFamily="34" charset="0"/>
                <a:ea typeface="MuseoModerno Medium" pitchFamily="34" charset="-122"/>
                <a:cs typeface="MuseoModerno Medium" pitchFamily="34" charset="-120"/>
              </a:rPr>
              <a:t>Future Enhancements &amp; Lessons Learned</a:t>
            </a:r>
            <a:endParaRPr lang="en-US" sz="4450" dirty="0"/>
          </a:p>
        </p:txBody>
      </p:sp>
      <p:sp>
        <p:nvSpPr>
          <p:cNvPr id="3" name="Shape 1"/>
          <p:cNvSpPr/>
          <p:nvPr/>
        </p:nvSpPr>
        <p:spPr>
          <a:xfrm>
            <a:off x="793790" y="2637711"/>
            <a:ext cx="510302" cy="510302"/>
          </a:xfrm>
          <a:prstGeom prst="roundRect">
            <a:avLst>
              <a:gd name="adj" fmla="val 6667"/>
            </a:avLst>
          </a:prstGeom>
          <a:solidFill>
            <a:srgbClr val="F3EEE3"/>
          </a:solidFill>
          <a:ln/>
        </p:spPr>
      </p:sp>
      <p:pic>
        <p:nvPicPr>
          <p:cNvPr id="4" name="Image 0" descr="preencoded.png">    </p:cNvPr>
          <p:cNvPicPr>
            <a:picLocks noChangeAspect="1"/>
          </p:cNvPicPr>
          <p:nvPr/>
        </p:nvPicPr>
        <p:blipFill>
          <a:blip r:embed="rId1"/>
          <a:stretch>
            <a:fillRect/>
          </a:stretch>
        </p:blipFill>
        <p:spPr>
          <a:xfrm>
            <a:off x="878860" y="2680216"/>
            <a:ext cx="340162" cy="425291"/>
          </a:xfrm>
          <a:prstGeom prst="rect">
            <a:avLst/>
          </a:prstGeom>
        </p:spPr>
      </p:pic>
      <p:sp>
        <p:nvSpPr>
          <p:cNvPr id="5" name="Text 2"/>
          <p:cNvSpPr/>
          <p:nvPr/>
        </p:nvSpPr>
        <p:spPr>
          <a:xfrm>
            <a:off x="1530906" y="2637711"/>
            <a:ext cx="4318278" cy="354330"/>
          </a:xfrm>
          <a:prstGeom prst="rect">
            <a:avLst/>
          </a:prstGeom>
          <a:noFill/>
          <a:ln/>
        </p:spPr>
        <p:txBody>
          <a:bodyPr wrap="none" lIns="0" tIns="0" rIns="0" bIns="0" rtlCol="0" anchor="t"/>
          <a:lstStyle/>
          <a:p>
            <a:pPr algn="l" indent="0" marL="0">
              <a:lnSpc>
                <a:spcPts val="2750"/>
              </a:lnSpc>
              <a:buNone/>
            </a:pPr>
            <a:r>
              <a:rPr lang="en-US" sz="2200" dirty="0">
                <a:solidFill>
                  <a:srgbClr val="2B4150"/>
                </a:solidFill>
                <a:latin typeface="MuseoModerno Medium" pitchFamily="34" charset="0"/>
                <a:ea typeface="MuseoModerno Medium" pitchFamily="34" charset="-122"/>
                <a:cs typeface="MuseoModerno Medium" pitchFamily="34" charset="-120"/>
              </a:rPr>
              <a:t>AI-Powered Recommendations</a:t>
            </a:r>
            <a:endParaRPr lang="en-US" sz="2200" dirty="0"/>
          </a:p>
        </p:txBody>
      </p:sp>
      <p:sp>
        <p:nvSpPr>
          <p:cNvPr id="6" name="Text 3"/>
          <p:cNvSpPr/>
          <p:nvPr/>
        </p:nvSpPr>
        <p:spPr>
          <a:xfrm>
            <a:off x="1530906" y="3128129"/>
            <a:ext cx="5670947" cy="725805"/>
          </a:xfrm>
          <a:prstGeom prst="rect">
            <a:avLst/>
          </a:prstGeom>
          <a:noFill/>
          <a:ln/>
        </p:spPr>
        <p:txBody>
          <a:bodyPr wrap="square" lIns="0" tIns="0" rIns="0" bIns="0" rtlCol="0" anchor="t"/>
          <a:lstStyle/>
          <a:p>
            <a:pPr algn="l" indent="0" marL="0">
              <a:lnSpc>
                <a:spcPts val="2850"/>
              </a:lnSpc>
              <a:buNone/>
            </a:pPr>
            <a:r>
              <a:rPr lang="en-US" sz="1750" dirty="0">
                <a:solidFill>
                  <a:srgbClr val="2B4150"/>
                </a:solidFill>
                <a:latin typeface="Source Sans Pro" pitchFamily="34" charset="0"/>
                <a:ea typeface="Source Sans Pro" pitchFamily="34" charset="-122"/>
                <a:cs typeface="Source Sans Pro" pitchFamily="34" charset="-120"/>
              </a:rPr>
              <a:t>Suggest properties based on user preferences and booking history to enhance user experience.</a:t>
            </a:r>
            <a:endParaRPr lang="en-US" sz="1750" dirty="0"/>
          </a:p>
        </p:txBody>
      </p:sp>
      <p:sp>
        <p:nvSpPr>
          <p:cNvPr id="7" name="Shape 4"/>
          <p:cNvSpPr/>
          <p:nvPr/>
        </p:nvSpPr>
        <p:spPr>
          <a:xfrm>
            <a:off x="7428667" y="2637711"/>
            <a:ext cx="510302" cy="510302"/>
          </a:xfrm>
          <a:prstGeom prst="roundRect">
            <a:avLst>
              <a:gd name="adj" fmla="val 6667"/>
            </a:avLst>
          </a:prstGeom>
          <a:solidFill>
            <a:srgbClr val="F3EEE3"/>
          </a:solidFill>
          <a:ln/>
        </p:spPr>
      </p:sp>
      <p:pic>
        <p:nvPicPr>
          <p:cNvPr id="8" name="Image 1" descr="preencoded.png">    </p:cNvPr>
          <p:cNvPicPr>
            <a:picLocks noChangeAspect="1"/>
          </p:cNvPicPr>
          <p:nvPr/>
        </p:nvPicPr>
        <p:blipFill>
          <a:blip r:embed="rId2"/>
          <a:stretch>
            <a:fillRect/>
          </a:stretch>
        </p:blipFill>
        <p:spPr>
          <a:xfrm>
            <a:off x="7513737" y="2680216"/>
            <a:ext cx="340162" cy="425291"/>
          </a:xfrm>
          <a:prstGeom prst="rect">
            <a:avLst/>
          </a:prstGeom>
        </p:spPr>
      </p:pic>
      <p:sp>
        <p:nvSpPr>
          <p:cNvPr id="9" name="Text 5"/>
          <p:cNvSpPr/>
          <p:nvPr/>
        </p:nvSpPr>
        <p:spPr>
          <a:xfrm>
            <a:off x="8165783" y="2637711"/>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2B4150"/>
                </a:solidFill>
                <a:latin typeface="MuseoModerno Medium" pitchFamily="34" charset="0"/>
                <a:ea typeface="MuseoModerno Medium" pitchFamily="34" charset="-122"/>
                <a:cs typeface="MuseoModerno Medium" pitchFamily="34" charset="-120"/>
              </a:rPr>
              <a:t>Virtual Tours</a:t>
            </a:r>
            <a:endParaRPr lang="en-US" sz="2200" dirty="0"/>
          </a:p>
        </p:txBody>
      </p:sp>
      <p:sp>
        <p:nvSpPr>
          <p:cNvPr id="10" name="Text 6"/>
          <p:cNvSpPr/>
          <p:nvPr/>
        </p:nvSpPr>
        <p:spPr>
          <a:xfrm>
            <a:off x="8165783" y="3128129"/>
            <a:ext cx="5670947" cy="725805"/>
          </a:xfrm>
          <a:prstGeom prst="rect">
            <a:avLst/>
          </a:prstGeom>
          <a:noFill/>
          <a:ln/>
        </p:spPr>
        <p:txBody>
          <a:bodyPr wrap="square" lIns="0" tIns="0" rIns="0" bIns="0" rtlCol="0" anchor="t"/>
          <a:lstStyle/>
          <a:p>
            <a:pPr algn="l" indent="0" marL="0">
              <a:lnSpc>
                <a:spcPts val="2850"/>
              </a:lnSpc>
              <a:buNone/>
            </a:pPr>
            <a:r>
              <a:rPr lang="en-US" sz="1750" dirty="0">
                <a:solidFill>
                  <a:srgbClr val="2B4150"/>
                </a:solidFill>
                <a:latin typeface="Source Sans Pro" pitchFamily="34" charset="0"/>
                <a:ea typeface="Source Sans Pro" pitchFamily="34" charset="-122"/>
                <a:cs typeface="Source Sans Pro" pitchFamily="34" charset="-120"/>
              </a:rPr>
              <a:t>Allow hosts to add 360° virtual property tours for immersive property previews.</a:t>
            </a:r>
            <a:endParaRPr lang="en-US" sz="1750" dirty="0"/>
          </a:p>
        </p:txBody>
      </p:sp>
      <p:sp>
        <p:nvSpPr>
          <p:cNvPr id="11" name="Shape 7"/>
          <p:cNvSpPr/>
          <p:nvPr/>
        </p:nvSpPr>
        <p:spPr>
          <a:xfrm>
            <a:off x="793790" y="4335899"/>
            <a:ext cx="510302" cy="510302"/>
          </a:xfrm>
          <a:prstGeom prst="roundRect">
            <a:avLst>
              <a:gd name="adj" fmla="val 6667"/>
            </a:avLst>
          </a:prstGeom>
          <a:solidFill>
            <a:srgbClr val="F3EEE3"/>
          </a:solidFill>
          <a:ln/>
        </p:spPr>
      </p:sp>
      <p:pic>
        <p:nvPicPr>
          <p:cNvPr id="12" name="Image 2" descr="preencoded.png">    </p:cNvPr>
          <p:cNvPicPr>
            <a:picLocks noChangeAspect="1"/>
          </p:cNvPicPr>
          <p:nvPr/>
        </p:nvPicPr>
        <p:blipFill>
          <a:blip r:embed="rId3"/>
          <a:stretch>
            <a:fillRect/>
          </a:stretch>
        </p:blipFill>
        <p:spPr>
          <a:xfrm>
            <a:off x="878860" y="4378404"/>
            <a:ext cx="340162" cy="425291"/>
          </a:xfrm>
          <a:prstGeom prst="rect">
            <a:avLst/>
          </a:prstGeom>
        </p:spPr>
      </p:pic>
      <p:sp>
        <p:nvSpPr>
          <p:cNvPr id="13" name="Text 8"/>
          <p:cNvSpPr/>
          <p:nvPr/>
        </p:nvSpPr>
        <p:spPr>
          <a:xfrm>
            <a:off x="1530906" y="4335899"/>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2B4150"/>
                </a:solidFill>
                <a:latin typeface="MuseoModerno Medium" pitchFamily="34" charset="0"/>
                <a:ea typeface="MuseoModerno Medium" pitchFamily="34" charset="-122"/>
                <a:cs typeface="MuseoModerno Medium" pitchFamily="34" charset="-120"/>
              </a:rPr>
              <a:t>In-App Messaging</a:t>
            </a:r>
            <a:endParaRPr lang="en-US" sz="2200" dirty="0"/>
          </a:p>
        </p:txBody>
      </p:sp>
      <p:sp>
        <p:nvSpPr>
          <p:cNvPr id="14" name="Text 9"/>
          <p:cNvSpPr/>
          <p:nvPr/>
        </p:nvSpPr>
        <p:spPr>
          <a:xfrm>
            <a:off x="1530906" y="4826318"/>
            <a:ext cx="5670947" cy="725805"/>
          </a:xfrm>
          <a:prstGeom prst="rect">
            <a:avLst/>
          </a:prstGeom>
          <a:noFill/>
          <a:ln/>
        </p:spPr>
        <p:txBody>
          <a:bodyPr wrap="square" lIns="0" tIns="0" rIns="0" bIns="0" rtlCol="0" anchor="t"/>
          <a:lstStyle/>
          <a:p>
            <a:pPr algn="l" indent="0" marL="0">
              <a:lnSpc>
                <a:spcPts val="2850"/>
              </a:lnSpc>
              <a:buNone/>
            </a:pPr>
            <a:r>
              <a:rPr lang="en-US" sz="1750" dirty="0">
                <a:solidFill>
                  <a:srgbClr val="2B4150"/>
                </a:solidFill>
                <a:latin typeface="Source Sans Pro" pitchFamily="34" charset="0"/>
                <a:ea typeface="Source Sans Pro" pitchFamily="34" charset="-122"/>
                <a:cs typeface="Source Sans Pro" pitchFamily="34" charset="-120"/>
              </a:rPr>
              <a:t>Implement real-time chat between hosts and guests to improve communication.</a:t>
            </a:r>
            <a:endParaRPr lang="en-US" sz="1750" dirty="0"/>
          </a:p>
        </p:txBody>
      </p:sp>
      <p:sp>
        <p:nvSpPr>
          <p:cNvPr id="15" name="Shape 10"/>
          <p:cNvSpPr/>
          <p:nvPr/>
        </p:nvSpPr>
        <p:spPr>
          <a:xfrm>
            <a:off x="7428667" y="4335899"/>
            <a:ext cx="510302" cy="510302"/>
          </a:xfrm>
          <a:prstGeom prst="roundRect">
            <a:avLst>
              <a:gd name="adj" fmla="val 6667"/>
            </a:avLst>
          </a:prstGeom>
          <a:solidFill>
            <a:srgbClr val="F3EEE3"/>
          </a:solidFill>
          <a:ln/>
        </p:spPr>
      </p:sp>
      <p:pic>
        <p:nvPicPr>
          <p:cNvPr id="16" name="Image 3" descr="preencoded.png">    </p:cNvPr>
          <p:cNvPicPr>
            <a:picLocks noChangeAspect="1"/>
          </p:cNvPicPr>
          <p:nvPr/>
        </p:nvPicPr>
        <p:blipFill>
          <a:blip r:embed="rId4"/>
          <a:stretch>
            <a:fillRect/>
          </a:stretch>
        </p:blipFill>
        <p:spPr>
          <a:xfrm>
            <a:off x="7513737" y="4378404"/>
            <a:ext cx="340162" cy="425291"/>
          </a:xfrm>
          <a:prstGeom prst="rect">
            <a:avLst/>
          </a:prstGeom>
        </p:spPr>
      </p:pic>
      <p:sp>
        <p:nvSpPr>
          <p:cNvPr id="17" name="Text 11"/>
          <p:cNvSpPr/>
          <p:nvPr/>
        </p:nvSpPr>
        <p:spPr>
          <a:xfrm>
            <a:off x="8165783" y="4335899"/>
            <a:ext cx="3346966" cy="354330"/>
          </a:xfrm>
          <a:prstGeom prst="rect">
            <a:avLst/>
          </a:prstGeom>
          <a:noFill/>
          <a:ln/>
        </p:spPr>
        <p:txBody>
          <a:bodyPr wrap="none" lIns="0" tIns="0" rIns="0" bIns="0" rtlCol="0" anchor="t"/>
          <a:lstStyle/>
          <a:p>
            <a:pPr algn="l" indent="0" marL="0">
              <a:lnSpc>
                <a:spcPts val="2750"/>
              </a:lnSpc>
              <a:buNone/>
            </a:pPr>
            <a:r>
              <a:rPr lang="en-US" sz="2200" dirty="0">
                <a:solidFill>
                  <a:srgbClr val="2B4150"/>
                </a:solidFill>
                <a:latin typeface="MuseoModerno Medium" pitchFamily="34" charset="0"/>
                <a:ea typeface="MuseoModerno Medium" pitchFamily="34" charset="-122"/>
                <a:cs typeface="MuseoModerno Medium" pitchFamily="34" charset="-120"/>
              </a:rPr>
              <a:t>Multi-language Support</a:t>
            </a:r>
            <a:endParaRPr lang="en-US" sz="2200" dirty="0"/>
          </a:p>
        </p:txBody>
      </p:sp>
      <p:sp>
        <p:nvSpPr>
          <p:cNvPr id="18" name="Text 12"/>
          <p:cNvSpPr/>
          <p:nvPr/>
        </p:nvSpPr>
        <p:spPr>
          <a:xfrm>
            <a:off x="8165783" y="4826318"/>
            <a:ext cx="5670947" cy="725805"/>
          </a:xfrm>
          <a:prstGeom prst="rect">
            <a:avLst/>
          </a:prstGeom>
          <a:noFill/>
          <a:ln/>
        </p:spPr>
        <p:txBody>
          <a:bodyPr wrap="square" lIns="0" tIns="0" rIns="0" bIns="0" rtlCol="0" anchor="t"/>
          <a:lstStyle/>
          <a:p>
            <a:pPr algn="l" indent="0" marL="0">
              <a:lnSpc>
                <a:spcPts val="2850"/>
              </a:lnSpc>
              <a:buNone/>
            </a:pPr>
            <a:r>
              <a:rPr lang="en-US" sz="1750" dirty="0">
                <a:solidFill>
                  <a:srgbClr val="2B4150"/>
                </a:solidFill>
                <a:latin typeface="Source Sans Pro" pitchFamily="34" charset="0"/>
                <a:ea typeface="Source Sans Pro" pitchFamily="34" charset="-122"/>
                <a:cs typeface="Source Sans Pro" pitchFamily="34" charset="-120"/>
              </a:rPr>
              <a:t>Expand market reach with localization for international users.</a:t>
            </a:r>
            <a:endParaRPr lang="en-US" sz="1750" dirty="0"/>
          </a:p>
        </p:txBody>
      </p:sp>
      <p:sp>
        <p:nvSpPr>
          <p:cNvPr id="19" name="Text 13"/>
          <p:cNvSpPr/>
          <p:nvPr/>
        </p:nvSpPr>
        <p:spPr>
          <a:xfrm>
            <a:off x="793790" y="5807273"/>
            <a:ext cx="13042821" cy="1088708"/>
          </a:xfrm>
          <a:prstGeom prst="rect">
            <a:avLst/>
          </a:prstGeom>
          <a:noFill/>
          <a:ln/>
        </p:spPr>
        <p:txBody>
          <a:bodyPr wrap="square" lIns="0" tIns="0" rIns="0" bIns="0" rtlCol="0" anchor="t"/>
          <a:lstStyle/>
          <a:p>
            <a:pPr algn="l" indent="0" marL="0">
              <a:lnSpc>
                <a:spcPts val="2850"/>
              </a:lnSpc>
              <a:buNone/>
            </a:pPr>
            <a:r>
              <a:rPr lang="en-US" sz="1750" dirty="0">
                <a:solidFill>
                  <a:srgbClr val="2B4150"/>
                </a:solidFill>
                <a:latin typeface="Source Sans Pro" pitchFamily="34" charset="0"/>
                <a:ea typeface="Source Sans Pro" pitchFamily="34" charset="-122"/>
                <a:cs typeface="Source Sans Pro" pitchFamily="34" charset="-120"/>
              </a:rPr>
              <a:t>Key lessons learned include the importance of early planning, how clear communication reduces rework, and the value of burndown charts as indicators of team health and progress. The project was completed ahead of schedule thanks to detailed planning and regular team check-ins.</a:t>
            </a:r>
            <a:endParaRPr lang="en-US" sz="1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93790" y="3043118"/>
            <a:ext cx="5670590" cy="708779"/>
          </a:xfrm>
          <a:prstGeom prst="rect">
            <a:avLst/>
          </a:prstGeom>
          <a:noFill/>
          <a:ln/>
        </p:spPr>
        <p:txBody>
          <a:bodyPr wrap="none" lIns="0" tIns="0" rIns="0" bIns="0" rtlCol="0" anchor="t"/>
          <a:lstStyle/>
          <a:p>
            <a:pPr algn="l" indent="0" marL="0">
              <a:lnSpc>
                <a:spcPts val="5550"/>
              </a:lnSpc>
              <a:buNone/>
            </a:pPr>
            <a:r>
              <a:rPr lang="en-US" sz="4450" dirty="0">
                <a:solidFill>
                  <a:srgbClr val="124E73"/>
                </a:solidFill>
                <a:latin typeface="MuseoModerno Medium" pitchFamily="34" charset="0"/>
                <a:ea typeface="MuseoModerno Medium" pitchFamily="34" charset="-122"/>
                <a:cs typeface="MuseoModerno Medium" pitchFamily="34" charset="-120"/>
              </a:rPr>
              <a:t>Thank You</a:t>
            </a:r>
            <a:endParaRPr lang="en-US" sz="4450" dirty="0"/>
          </a:p>
        </p:txBody>
      </p:sp>
      <p:sp>
        <p:nvSpPr>
          <p:cNvPr id="3" name="Text 1"/>
          <p:cNvSpPr/>
          <p:nvPr/>
        </p:nvSpPr>
        <p:spPr>
          <a:xfrm>
            <a:off x="793790" y="4205526"/>
            <a:ext cx="13042821" cy="362903"/>
          </a:xfrm>
          <a:prstGeom prst="rect">
            <a:avLst/>
          </a:prstGeom>
          <a:noFill/>
          <a:ln/>
        </p:spPr>
        <p:txBody>
          <a:bodyPr wrap="none" lIns="0" tIns="0" rIns="0" bIns="0" rtlCol="0" anchor="t"/>
          <a:lstStyle/>
          <a:p>
            <a:pPr algn="l" indent="0" marL="0">
              <a:lnSpc>
                <a:spcPts val="2850"/>
              </a:lnSpc>
              <a:buNone/>
            </a:pPr>
            <a:r>
              <a:rPr lang="en-US" sz="1750" dirty="0">
                <a:solidFill>
                  <a:srgbClr val="2B4150"/>
                </a:solidFill>
                <a:latin typeface="Source Sans Pro" pitchFamily="34" charset="0"/>
                <a:ea typeface="Source Sans Pro" pitchFamily="34" charset="-122"/>
                <a:cs typeface="Source Sans Pro" pitchFamily="34" charset="-120"/>
              </a:rPr>
              <a:t>We appreciate your time and attention.</a:t>
            </a:r>
            <a:endParaRPr lang="en-US" sz="1750" dirty="0"/>
          </a:p>
        </p:txBody>
      </p:sp>
      <p:sp>
        <p:nvSpPr>
          <p:cNvPr id="4" name="Text 2"/>
          <p:cNvSpPr/>
          <p:nvPr/>
        </p:nvSpPr>
        <p:spPr>
          <a:xfrm>
            <a:off x="793790" y="4823579"/>
            <a:ext cx="13042821" cy="362903"/>
          </a:xfrm>
          <a:prstGeom prst="rect">
            <a:avLst/>
          </a:prstGeom>
          <a:noFill/>
          <a:ln/>
        </p:spPr>
        <p:txBody>
          <a:bodyPr wrap="none" lIns="0" tIns="0" rIns="0" bIns="0" rtlCol="0" anchor="t"/>
          <a:lstStyle/>
          <a:p>
            <a:pPr algn="l" indent="0" marL="0">
              <a:lnSpc>
                <a:spcPts val="2850"/>
              </a:lnSpc>
              <a:buNone/>
            </a:pPr>
            <a:r>
              <a:rPr lang="en-US" sz="1750" dirty="0">
                <a:solidFill>
                  <a:srgbClr val="2B4150"/>
                </a:solidFill>
                <a:latin typeface="Source Sans Pro" pitchFamily="34" charset="0"/>
                <a:ea typeface="Source Sans Pro" pitchFamily="34" charset="-122"/>
                <a:cs typeface="Source Sans Pro" pitchFamily="34" charset="-120"/>
              </a:rPr>
              <a:t>Looking forward to your questions and feedback!</a:t>
            </a:r>
            <a:endParaRPr lang="en-US" sz="1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2025-04-28T15:23:14Z</dcterms:created>
  <dcterms:modified xsi:type="dcterms:W3CDTF">2025-04-28T15:23:14Z</dcterms:modified>
</cp:coreProperties>
</file>